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12.png" ContentType="image/png"/>
  <Override PartName="/ppt/media/image3.png" ContentType="image/png"/>
  <Override PartName="/ppt/media/image19.png" ContentType="image/png"/>
  <Override PartName="/ppt/media/image14.png" ContentType="image/png"/>
  <Override PartName="/ppt/media/image5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16.png" ContentType="image/png"/>
  <Override PartName="/ppt/media/image7.png" ContentType="image/png"/>
  <Override PartName="/ppt/media/image2.png" ContentType="image/png"/>
  <Override PartName="/ppt/media/image11.png" ContentType="image/png"/>
  <Override PartName="/ppt/media/image17.png" ContentType="image/png"/>
  <Override PartName="/ppt/media/image8.png" ContentType="image/png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8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pie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Revenue Mix</c:v>
                </c:pt>
              </c:strCache>
            </c:strRef>
          </c:tx>
          <c:spPr>
            <a:solidFill>
              <a:srgbClr val="4472c4"/>
            </a:solidFill>
            <a:ln w="9360">
              <a:solidFill>
                <a:srgbClr val="f9f9f9"/>
              </a:solidFill>
              <a:round/>
            </a:ln>
          </c:spPr>
          <c:explosion val="0"/>
          <c:dPt>
            <c:idx val="0"/>
            <c:spPr>
              <a:solidFill>
                <a:srgbClr val="c94a1a"/>
              </a:solidFill>
              <a:ln w="0">
                <a:noFill/>
              </a:ln>
            </c:spPr>
          </c:dPt>
          <c:dPt>
            <c:idx val="1"/>
            <c:spPr>
              <a:solidFill>
                <a:srgbClr val="b8860b"/>
              </a:solidFill>
              <a:ln w="0">
                <a:noFill/>
              </a:ln>
            </c:spPr>
          </c:dPt>
          <c:dPt>
            <c:idx val="2"/>
            <c:spPr>
              <a:solidFill>
                <a:srgbClr val="8a7e6e"/>
              </a:solidFill>
              <a:ln w="0">
                <a:noFill/>
              </a:ln>
            </c:spPr>
          </c:dPt>
          <c:dPt>
            <c:idx val="3"/>
            <c:spPr>
              <a:solidFill>
                <a:srgbClr val="4a4238"/>
              </a:solidFill>
              <a:ln w="0">
                <a:noFill/>
              </a:ln>
            </c:spPr>
          </c:dPt>
          <c:dLbls>
            <c:numFmt formatCode="0%" sourceLinked="0"/>
            <c:dLbl>
              <c:idx val="0"/>
              <c:numFmt formatCode="0%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eparator>
</c:separator>
            </c:dLbl>
            <c:dLbl>
              <c:idx val="1"/>
              <c:numFmt formatCode="0%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eparator>
</c:separator>
            </c:dLbl>
            <c:dLbl>
              <c:idx val="2"/>
              <c:numFmt formatCode="0%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eparator>
</c:separator>
            </c:dLbl>
            <c:dLbl>
              <c:idx val="3"/>
              <c:numFmt formatCode="0%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eparator>
</c:separator>
            </c:dLbl>
            <c:txPr>
              <a:bodyPr wrap="square"/>
              <a:lstStyle/>
              <a:p>
                <a:pPr>
                  <a:defRPr b="0" sz="18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eparator>
</c:separator>
            <c:showLeaderLines val="0"/>
          </c:dLbls>
          <c:cat>
            <c:strRef>
              <c:f>categories</c:f>
              <c:strCache>
                <c:ptCount val="4"/>
                <c:pt idx="0">
                  <c:v>Booking Commissions</c:v>
                </c:pt>
                <c:pt idx="1">
                  <c:v>MUA Premium Subs</c:v>
                </c:pt>
                <c:pt idx="2">
                  <c:v>Featured Placements</c:v>
                </c:pt>
                <c:pt idx="3">
                  <c:v>Brand Partnerships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996725</c:v>
                </c:pt>
                <c:pt idx="1">
                  <c:v>215380</c:v>
                </c:pt>
                <c:pt idx="2">
                  <c:v>261569</c:v>
                </c:pt>
                <c:pt idx="3">
                  <c:v>418398</c:v>
                </c:pt>
              </c:numCache>
            </c:numRef>
          </c:val>
        </c:ser>
        <c:firstSliceAng val="0"/>
      </c:pieChart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sz="1050" spc="-1" strike="noStrike">
              <a:solidFill>
                <a:srgbClr val="000000"/>
              </a:solidFill>
              <a:latin typeface="Calibri"/>
            </a:defRPr>
          </a:pPr>
        </a:p>
      </c:txPr>
    </c:legend>
    <c:plotVisOnly val="1"/>
    <c:dispBlanksAs val="span"/>
  </c:chart>
  <c:spPr>
    <a:solidFill>
      <a:srgbClr val="fbf8f3"/>
    </a:solidFill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Revenue (RM)</c:v>
                </c:pt>
              </c:strCache>
            </c:strRef>
          </c:tx>
          <c:spPr>
            <a:solidFill>
              <a:srgbClr val="c94a1a"/>
            </a:solidFill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b="0" sz="12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12"/>
                <c:pt idx="0">
                  <c:v>Y1 Q1</c:v>
                </c:pt>
                <c:pt idx="1">
                  <c:v>Y1 Q2</c:v>
                </c:pt>
                <c:pt idx="2">
                  <c:v>Y1 Q3</c:v>
                </c:pt>
                <c:pt idx="3">
                  <c:v>Y1 Q4</c:v>
                </c:pt>
                <c:pt idx="4">
                  <c:v>Y2 Q1</c:v>
                </c:pt>
                <c:pt idx="5">
                  <c:v>Y2 Q2</c:v>
                </c:pt>
                <c:pt idx="6">
                  <c:v>Y2 Q3</c:v>
                </c:pt>
                <c:pt idx="7">
                  <c:v>Y2 Q4</c:v>
                </c:pt>
                <c:pt idx="8">
                  <c:v>Y3 Q1</c:v>
                </c:pt>
                <c:pt idx="9">
                  <c:v>Y3 Q2</c:v>
                </c:pt>
                <c:pt idx="10">
                  <c:v>Y3 Q3</c:v>
                </c:pt>
                <c:pt idx="11">
                  <c:v>Y3 Q4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2"/>
                <c:pt idx="0">
                  <c:v>14174</c:v>
                </c:pt>
                <c:pt idx="1">
                  <c:v>22766</c:v>
                </c:pt>
                <c:pt idx="2">
                  <c:v>43807</c:v>
                </c:pt>
                <c:pt idx="3">
                  <c:v>68667</c:v>
                </c:pt>
                <c:pt idx="4">
                  <c:v>110352</c:v>
                </c:pt>
                <c:pt idx="5">
                  <c:v>146974</c:v>
                </c:pt>
                <c:pt idx="6">
                  <c:v>195686</c:v>
                </c:pt>
                <c:pt idx="7">
                  <c:v>260497</c:v>
                </c:pt>
                <c:pt idx="8">
                  <c:v>330035</c:v>
                </c:pt>
                <c:pt idx="9">
                  <c:v>409393</c:v>
                </c:pt>
                <c:pt idx="10">
                  <c:v>511204</c:v>
                </c:pt>
                <c:pt idx="11">
                  <c:v>641439</c:v>
                </c:pt>
              </c:numCache>
            </c:numRef>
          </c:val>
        </c:ser>
        <c:gapWidth val="150"/>
        <c:overlap val="0"/>
        <c:axId val="98218905"/>
        <c:axId val="90862710"/>
      </c:barChart>
      <c:lineChart>
        <c:grouping val="standard"/>
        <c:varyColors val="0"/>
        <c:ser>
          <c:idx val="1"/>
          <c:order val="1"/>
          <c:tx>
            <c:strRef>
              <c:f>label 1</c:f>
              <c:strCache>
                <c:ptCount val="1"/>
                <c:pt idx="0">
                  <c:v>EBITDA (RM)</c:v>
                </c:pt>
              </c:strCache>
            </c:strRef>
          </c:tx>
          <c:spPr>
            <a:solidFill>
              <a:srgbClr val="1a1410"/>
            </a:solidFill>
            <a:ln w="31680">
              <a:solidFill>
                <a:srgbClr val="1a1410"/>
              </a:solidFill>
              <a:round/>
            </a:ln>
          </c:spPr>
          <c:marker>
            <c:symbol val="circle"/>
            <c:size val="6"/>
            <c:spPr>
              <a:solidFill>
                <a:srgbClr val="1a1410"/>
              </a:solidFill>
            </c:spPr>
          </c:marker>
          <c:dLbls>
            <c:txPr>
              <a:bodyPr wrap="square"/>
              <a:lstStyle/>
              <a:p>
                <a:pPr>
                  <a:defRPr b="0" sz="12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12"/>
                <c:pt idx="0">
                  <c:v>Y1 Q1</c:v>
                </c:pt>
                <c:pt idx="1">
                  <c:v>Y1 Q2</c:v>
                </c:pt>
                <c:pt idx="2">
                  <c:v>Y1 Q3</c:v>
                </c:pt>
                <c:pt idx="3">
                  <c:v>Y1 Q4</c:v>
                </c:pt>
                <c:pt idx="4">
                  <c:v>Y2 Q1</c:v>
                </c:pt>
                <c:pt idx="5">
                  <c:v>Y2 Q2</c:v>
                </c:pt>
                <c:pt idx="6">
                  <c:v>Y2 Q3</c:v>
                </c:pt>
                <c:pt idx="7">
                  <c:v>Y2 Q4</c:v>
                </c:pt>
                <c:pt idx="8">
                  <c:v>Y3 Q1</c:v>
                </c:pt>
                <c:pt idx="9">
                  <c:v>Y3 Q2</c:v>
                </c:pt>
                <c:pt idx="10">
                  <c:v>Y3 Q3</c:v>
                </c:pt>
                <c:pt idx="11">
                  <c:v>Y3 Q4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12"/>
                <c:pt idx="0">
                  <c:v>-26951</c:v>
                </c:pt>
                <c:pt idx="1">
                  <c:v>-21370</c:v>
                </c:pt>
                <c:pt idx="2">
                  <c:v>-5077</c:v>
                </c:pt>
                <c:pt idx="3">
                  <c:v>12262</c:v>
                </c:pt>
                <c:pt idx="4">
                  <c:v>22769</c:v>
                </c:pt>
                <c:pt idx="5">
                  <c:v>50269</c:v>
                </c:pt>
                <c:pt idx="6">
                  <c:v>86968</c:v>
                </c:pt>
                <c:pt idx="7">
                  <c:v>135954</c:v>
                </c:pt>
                <c:pt idx="8">
                  <c:v>136064</c:v>
                </c:pt>
                <c:pt idx="9">
                  <c:v>200050</c:v>
                </c:pt>
                <c:pt idx="10">
                  <c:v>283589</c:v>
                </c:pt>
                <c:pt idx="11">
                  <c:v>392119</c:v>
                </c:pt>
              </c:numCache>
            </c:numRef>
          </c:val>
          <c:smooth val="1"/>
        </c:ser>
        <c:hiLowLines>
          <c:spPr>
            <a:ln w="0">
              <a:noFill/>
            </a:ln>
          </c:spPr>
        </c:hiLowLines>
        <c:marker val="1"/>
        <c:axId val="67032375"/>
        <c:axId val="51190999"/>
      </c:lineChart>
      <c:catAx>
        <c:axId val="98218905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950" spc="-1" strike="noStrike">
                <a:solidFill>
                  <a:srgbClr val="8a7e6e"/>
                </a:solidFill>
                <a:latin typeface="Arial"/>
              </a:defRPr>
            </a:pPr>
          </a:p>
        </c:txPr>
        <c:crossAx val="90862710"/>
        <c:crosses val="autoZero"/>
        <c:auto val="1"/>
        <c:lblAlgn val="ctr"/>
        <c:lblOffset val="100"/>
        <c:noMultiLvlLbl val="0"/>
      </c:catAx>
      <c:valAx>
        <c:axId val="90862710"/>
        <c:scaling>
          <c:orientation val="minMax"/>
        </c:scaling>
        <c:delete val="0"/>
        <c:axPos val="l"/>
        <c:majorGridlines>
          <c:spPr>
            <a:ln w="6480">
              <a:solidFill>
                <a:srgbClr val="e4dccb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950" spc="-1" strike="noStrike">
                <a:solidFill>
                  <a:srgbClr val="8a7e6e"/>
                </a:solidFill>
                <a:latin typeface="Arial"/>
              </a:defRPr>
            </a:pPr>
          </a:p>
        </c:txPr>
        <c:crossAx val="98218905"/>
        <c:crosses val="autoZero"/>
        <c:crossBetween val="between"/>
      </c:valAx>
      <c:catAx>
        <c:axId val="67032375"/>
        <c:scaling>
          <c:orientation val="minMax"/>
        </c:scaling>
        <c:delete val="1"/>
        <c:axPos val="t"/>
        <c:numFmt formatCode="[$-409]mm/dd/yyyy" sourceLinked="1"/>
        <c:majorTickMark val="cross"/>
        <c:minorTickMark val="cross"/>
        <c:tickLblPos val="nextTo"/>
        <c:spPr>
          <a:ln w="6480">
            <a:solidFill>
              <a:srgbClr val="8b8b8b"/>
            </a:solidFill>
            <a:round/>
          </a:ln>
        </c:spPr>
        <c:txPr>
          <a:bodyPr/>
          <a:lstStyle/>
          <a:p>
            <a:pPr>
              <a:defRPr b="0" sz="1000" spc="-1" strike="noStrike">
                <a:solidFill>
                  <a:srgbClr val="000000"/>
                </a:solidFill>
                <a:latin typeface="Calibri"/>
              </a:defRPr>
            </a:pPr>
          </a:p>
        </c:txPr>
        <c:crossAx val="51190999"/>
        <c:auto val="1"/>
        <c:lblAlgn val="ctr"/>
        <c:lblOffset val="100"/>
        <c:noMultiLvlLbl val="0"/>
      </c:catAx>
      <c:valAx>
        <c:axId val="51190999"/>
        <c:scaling>
          <c:orientation val="minMax"/>
        </c:scaling>
        <c:delete val="1"/>
        <c:axPos val="r"/>
        <c:numFmt formatCode="General" sourceLinked="1"/>
        <c:majorTickMark val="cross"/>
        <c:minorTickMark val="cross"/>
        <c:tickLblPos val="nextTo"/>
        <c:spPr>
          <a:ln w="6480">
            <a:solidFill>
              <a:srgbClr val="8b8b8b"/>
            </a:solidFill>
            <a:round/>
          </a:ln>
        </c:spPr>
        <c:txPr>
          <a:bodyPr/>
          <a:lstStyle/>
          <a:p>
            <a:pPr>
              <a:defRPr b="0" sz="1000" spc="-1" strike="noStrike">
                <a:solidFill>
                  <a:srgbClr val="000000"/>
                </a:solidFill>
                <a:latin typeface="Calibri"/>
              </a:defRPr>
            </a:pPr>
          </a:p>
        </c:txPr>
        <c:crossAx val="67032375"/>
        <c:crossBetween val="between"/>
      </c:valAx>
      <c:spPr>
        <a:noFill/>
        <a:ln w="0">
          <a:noFill/>
        </a:ln>
      </c:spPr>
    </c:plotArea>
    <c:legend>
      <c:legendPos val="t"/>
      <c:overlay val="0"/>
      <c:spPr>
        <a:noFill/>
        <a:ln w="0">
          <a:noFill/>
        </a:ln>
      </c:spPr>
      <c:txPr>
        <a:bodyPr/>
        <a:lstStyle/>
        <a:p>
          <a:pPr>
            <a:defRPr b="0" sz="1050" spc="-1" strike="noStrike">
              <a:solidFill>
                <a:srgbClr val="000000"/>
              </a:solidFill>
              <a:latin typeface="Calibri"/>
            </a:defRPr>
          </a:pPr>
        </a:p>
      </c:txPr>
    </c:legend>
    <c:plotVisOnly val="1"/>
    <c:dispBlanksAs val="span"/>
  </c:chart>
  <c:spPr>
    <a:solidFill>
      <a:srgbClr val="fbf8f3"/>
    </a:solidFill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Use of Funds</c:v>
                </c:pt>
              </c:strCache>
            </c:strRef>
          </c:tx>
          <c:spPr>
            <a:solidFill>
              <a:srgbClr val="4472c4"/>
            </a:solidFill>
            <a:ln w="9360">
              <a:solidFill>
                <a:srgbClr val="f9f9f9"/>
              </a:solidFill>
              <a:round/>
            </a:ln>
          </c:spPr>
          <c:explosion val="0"/>
          <c:dPt>
            <c:idx val="0"/>
            <c:spPr>
              <a:solidFill>
                <a:srgbClr val="c94a1a"/>
              </a:solidFill>
              <a:ln w="0">
                <a:noFill/>
              </a:ln>
            </c:spPr>
          </c:dPt>
          <c:dPt>
            <c:idx val="1"/>
            <c:spPr>
              <a:solidFill>
                <a:srgbClr val="b8860b"/>
              </a:solidFill>
              <a:ln w="0">
                <a:noFill/>
              </a:ln>
            </c:spPr>
          </c:dPt>
          <c:dPt>
            <c:idx val="2"/>
            <c:spPr>
              <a:solidFill>
                <a:srgbClr val="6b6154"/>
              </a:solidFill>
              <a:ln w="0">
                <a:noFill/>
              </a:ln>
            </c:spPr>
          </c:dPt>
          <c:dPt>
            <c:idx val="3"/>
            <c:spPr>
              <a:solidFill>
                <a:srgbClr val="3a3128"/>
              </a:solidFill>
              <a:ln w="0">
                <a:noFill/>
              </a:ln>
            </c:spPr>
          </c:dPt>
          <c:dLbls>
            <c:numFmt formatCode="0%" sourceLinked="0"/>
            <c:dLbl>
              <c:idx val="0"/>
              <c:numFmt formatCode="0%" sourceLinked="0"/>
              <c:txPr>
                <a:bodyPr wrap="square"/>
                <a:lstStyle/>
                <a:p>
                  <a:pPr>
                    <a:defRPr b="0" sz="1050" spc="-1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eparator>
</c:separator>
            </c:dLbl>
            <c:dLbl>
              <c:idx val="1"/>
              <c:numFmt formatCode="0%" sourceLinked="0"/>
              <c:txPr>
                <a:bodyPr wrap="square"/>
                <a:lstStyle/>
                <a:p>
                  <a:pPr>
                    <a:defRPr b="0" sz="1050" spc="-1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eparator>
</c:separator>
            </c:dLbl>
            <c:dLbl>
              <c:idx val="2"/>
              <c:numFmt formatCode="0%" sourceLinked="0"/>
              <c:txPr>
                <a:bodyPr wrap="square"/>
                <a:lstStyle/>
                <a:p>
                  <a:pPr>
                    <a:defRPr b="0" sz="1050" spc="-1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eparator>
</c:separator>
            </c:dLbl>
            <c:dLbl>
              <c:idx val="3"/>
              <c:numFmt formatCode="0%" sourceLinked="0"/>
              <c:txPr>
                <a:bodyPr wrap="square"/>
                <a:lstStyle/>
                <a:p>
                  <a:pPr>
                    <a:defRPr b="0" sz="1050" spc="-1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eparator>
</c:separator>
            </c:dLbl>
            <c:txPr>
              <a:bodyPr wrap="square"/>
              <a:lstStyle/>
              <a:p>
                <a:pPr>
                  <a:defRPr b="0" sz="18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eparator>
</c:separator>
            <c:showLeaderLines val="0"/>
          </c:dLbls>
          <c:cat>
            <c:strRef>
              <c:f>categories</c:f>
              <c:strCache>
                <c:ptCount val="4"/>
                <c:pt idx="0">
                  <c:v>Sales &amp; Marketing</c:v>
                </c:pt>
                <c:pt idx="1">
                  <c:v>Product Development</c:v>
                </c:pt>
                <c:pt idx="2">
                  <c:v>Operations</c:v>
                </c:pt>
                <c:pt idx="3">
                  <c:v>Working Capital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40</c:v>
                </c:pt>
                <c:pt idx="1">
                  <c:v>35</c:v>
                </c:pt>
                <c:pt idx="2">
                  <c:v>15</c:v>
                </c:pt>
                <c:pt idx="3">
                  <c:v>10</c:v>
                </c:pt>
              </c:numCache>
            </c:numRef>
          </c:val>
        </c:ser>
        <c:firstSliceAng val="0"/>
        <c:holeSize val="50"/>
      </c:doughnutChart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sz="1000" spc="-1" strike="noStrike">
              <a:solidFill>
                <a:srgbClr val="d8cfc0"/>
              </a:solidFill>
              <a:latin typeface="Calibri"/>
            </a:defRPr>
          </a:pPr>
        </a:p>
      </c:txPr>
    </c:legend>
    <c:plotVisOnly val="1"/>
    <c:dispBlanksAs val="span"/>
  </c:chart>
  <c:spPr>
    <a:solidFill>
      <a:srgbClr val="1a1410"/>
    </a:solidFill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3BC1BFDC-3198-427A-8BC4-893C2E7E6D30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4F6BE95-F013-48A8-9F7F-0561DE4BCF1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313FA7B-D5CC-4735-9D51-8C74CC43D3E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BEC6D0D-D487-4BE0-9DA4-F703BC4EC39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A7101A-0BB9-4D51-A00E-78885CA6631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24C5C13-5458-4D97-9B53-D82AFF706E8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8ED2B4A-DB2A-45AF-8EA4-665F898FC6C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6A2B765-CAF8-4345-9FC9-89CFDF7A539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301921E-5AB5-4841-956F-10DE33199EB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5E27DF-10FB-483A-978D-70C4F4D4FBF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815308-AD65-458E-B154-2550D666DBB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9817A9C-D214-4D06-99EF-988342B07AB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2D7CA7F-A218-4327-A01D-12E34C72D14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54CD12B-6D89-4A3B-8CD3-8538E235EF4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E8E5F3-DDE0-4754-8D9C-3015644CBE7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8.png"/><Relationship Id="rId3" Type="http://schemas.openxmlformats.org/officeDocument/2006/relationships/image" Target="../media/image8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9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640080" y="68580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99" strike="noStrike">
                <a:solidFill>
                  <a:srgbClr val="b8860b"/>
                </a:solidFill>
                <a:latin typeface="Calibri"/>
                <a:ea typeface="Calibri"/>
              </a:rPr>
              <a:t>CONFIDENTIAL  ·  SEED ROUND  ·  2026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594360" y="2148840"/>
            <a:ext cx="914364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600" spc="-1" strike="noStrike">
                <a:solidFill>
                  <a:srgbClr val="fbf8f3"/>
                </a:solidFill>
                <a:latin typeface="Cambria"/>
                <a:ea typeface="Cambria"/>
              </a:rPr>
              <a:t>LEISH</a:t>
            </a:r>
            <a:endParaRPr b="0" lang="en-US" sz="9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640080" y="352044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c94a1a"/>
                </a:solidFill>
                <a:latin typeface="Cambria"/>
                <a:ea typeface="Cambria"/>
              </a:rPr>
              <a:t>Malaysia's Trusted Beauty Marketplace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640080" y="4160520"/>
            <a:ext cx="7680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d8cfc0"/>
                </a:solidFill>
                <a:latin typeface="Calibri"/>
                <a:ea typeface="Calibri"/>
              </a:rPr>
              <a:t>Connecting clients with makeup artists and studio spaces — portfolio-first discovery, escrow-secured booking, zero off-platform guesswork.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640080" y="5806440"/>
            <a:ext cx="3108960" cy="360"/>
          </a:xfrm>
          <a:prstGeom prst="line">
            <a:avLst/>
          </a:prstGeom>
          <a:ln w="12700">
            <a:solidFill>
              <a:srgbClr val="3a3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640080" y="594360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mbria"/>
                <a:ea typeface="Cambria"/>
              </a:rPr>
              <a:t>leish.my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640080" y="626364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8a7e6e"/>
                </a:solidFill>
                <a:latin typeface="Calibri"/>
                <a:ea typeface="Calibri"/>
              </a:rPr>
              <a:t>Operated by Duta Integra Solutions  ·  SSM TR0325441-K  ·  Cyberjaya, Selangor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0"/>
          <p:cNvSpPr/>
          <p:nvPr/>
        </p:nvSpPr>
        <p:spPr>
          <a:xfrm>
            <a:off x="457200" y="2926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199" strike="noStrike">
                <a:solidFill>
                  <a:srgbClr val="8a7e6e"/>
                </a:solidFill>
                <a:latin typeface="Calibri"/>
                <a:ea typeface="Calibri"/>
              </a:rPr>
              <a:t>THE PROBLEM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Text 1"/>
          <p:cNvSpPr/>
          <p:nvPr/>
        </p:nvSpPr>
        <p:spPr>
          <a:xfrm>
            <a:off x="8991360" y="2926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8ada0"/>
                </a:solidFill>
                <a:latin typeface="Calibri"/>
                <a:ea typeface="Calibri"/>
              </a:rPr>
              <a:t>LEISH  ·  02 / 14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 2"/>
          <p:cNvSpPr/>
          <p:nvPr/>
        </p:nvSpPr>
        <p:spPr>
          <a:xfrm>
            <a:off x="640080" y="777240"/>
            <a:ext cx="107895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a1410"/>
                </a:solidFill>
                <a:latin typeface="Cambria"/>
                <a:ea typeface="Cambria"/>
              </a:rPr>
              <a:t>Independent Makeup Artists Are Stuck in the DM Era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Shape 3"/>
          <p:cNvSpPr/>
          <p:nvPr/>
        </p:nvSpPr>
        <p:spPr>
          <a:xfrm>
            <a:off x="640080" y="1828800"/>
            <a:ext cx="566640" cy="566640"/>
          </a:xfrm>
          <a:prstGeom prst="ellipse">
            <a:avLst/>
          </a:prstGeom>
          <a:solidFill>
            <a:srgbClr val="c94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9" name="Image 0" descr="preencoded.png"/>
          <p:cNvPicPr/>
          <p:nvPr/>
        </p:nvPicPr>
        <p:blipFill>
          <a:blip r:embed="rId1"/>
          <a:stretch/>
        </p:blipFill>
        <p:spPr>
          <a:xfrm>
            <a:off x="713880" y="1902600"/>
            <a:ext cx="419040" cy="419040"/>
          </a:xfrm>
          <a:prstGeom prst="rect">
            <a:avLst/>
          </a:prstGeom>
          <a:ln w="0">
            <a:noFill/>
          </a:ln>
        </p:spPr>
      </p:pic>
      <p:sp>
        <p:nvSpPr>
          <p:cNvPr id="20" name="Text 4"/>
          <p:cNvSpPr/>
          <p:nvPr/>
        </p:nvSpPr>
        <p:spPr>
          <a:xfrm>
            <a:off x="1417320" y="1801440"/>
            <a:ext cx="4480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a1410"/>
                </a:solidFill>
                <a:latin typeface="Cambria"/>
                <a:ea typeface="Cambria"/>
              </a:rPr>
              <a:t>Fragmented Discovery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 5"/>
          <p:cNvSpPr/>
          <p:nvPr/>
        </p:nvSpPr>
        <p:spPr>
          <a:xfrm>
            <a:off x="1417320" y="2157840"/>
            <a:ext cx="45716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4a4238"/>
                </a:solidFill>
                <a:latin typeface="Calibri"/>
                <a:ea typeface="Calibri"/>
              </a:rPr>
              <a:t>Bookings happen through scattered Instagram DMs and word-of-mouth — no single trusted place to browse and compare.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Shape 6"/>
          <p:cNvSpPr/>
          <p:nvPr/>
        </p:nvSpPr>
        <p:spPr>
          <a:xfrm>
            <a:off x="640080" y="3246120"/>
            <a:ext cx="566640" cy="566640"/>
          </a:xfrm>
          <a:prstGeom prst="ellipse">
            <a:avLst/>
          </a:prstGeom>
          <a:solidFill>
            <a:srgbClr val="c94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3" name="Image 1" descr="preencoded.png"/>
          <p:cNvPicPr/>
          <p:nvPr/>
        </p:nvPicPr>
        <p:blipFill>
          <a:blip r:embed="rId2"/>
          <a:stretch/>
        </p:blipFill>
        <p:spPr>
          <a:xfrm>
            <a:off x="713880" y="3319920"/>
            <a:ext cx="419040" cy="419040"/>
          </a:xfrm>
          <a:prstGeom prst="rect">
            <a:avLst/>
          </a:prstGeom>
          <a:ln w="0">
            <a:noFill/>
          </a:ln>
        </p:spPr>
      </p:pic>
      <p:sp>
        <p:nvSpPr>
          <p:cNvPr id="24" name="Text 7"/>
          <p:cNvSpPr/>
          <p:nvPr/>
        </p:nvSpPr>
        <p:spPr>
          <a:xfrm>
            <a:off x="1417320" y="3218760"/>
            <a:ext cx="4480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a1410"/>
                </a:solidFill>
                <a:latin typeface="Cambria"/>
                <a:ea typeface="Cambria"/>
              </a:rPr>
              <a:t>Trust &amp; Guesswork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 8"/>
          <p:cNvSpPr/>
          <p:nvPr/>
        </p:nvSpPr>
        <p:spPr>
          <a:xfrm>
            <a:off x="1417320" y="3575160"/>
            <a:ext cx="45716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4a4238"/>
                </a:solidFill>
                <a:latin typeface="Calibri"/>
                <a:ea typeface="Calibri"/>
              </a:rPr>
              <a:t>Clients can't verify quality before paying. Blurry screenshots replace real portfolios and reviews.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Shape 9"/>
          <p:cNvSpPr/>
          <p:nvPr/>
        </p:nvSpPr>
        <p:spPr>
          <a:xfrm>
            <a:off x="640080" y="4663440"/>
            <a:ext cx="566640" cy="566640"/>
          </a:xfrm>
          <a:prstGeom prst="ellipse">
            <a:avLst/>
          </a:prstGeom>
          <a:solidFill>
            <a:srgbClr val="c94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7" name="Image 2" descr="preencoded.png"/>
          <p:cNvPicPr/>
          <p:nvPr/>
        </p:nvPicPr>
        <p:blipFill>
          <a:blip r:embed="rId3"/>
          <a:stretch/>
        </p:blipFill>
        <p:spPr>
          <a:xfrm>
            <a:off x="713880" y="4737240"/>
            <a:ext cx="419040" cy="419040"/>
          </a:xfrm>
          <a:prstGeom prst="rect">
            <a:avLst/>
          </a:prstGeom>
          <a:ln w="0">
            <a:noFill/>
          </a:ln>
        </p:spPr>
      </p:pic>
      <p:sp>
        <p:nvSpPr>
          <p:cNvPr id="28" name="Text 10"/>
          <p:cNvSpPr/>
          <p:nvPr/>
        </p:nvSpPr>
        <p:spPr>
          <a:xfrm>
            <a:off x="1417320" y="4636080"/>
            <a:ext cx="4480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a1410"/>
                </a:solidFill>
                <a:latin typeface="Cambria"/>
                <a:ea typeface="Cambria"/>
              </a:rPr>
              <a:t>No Payment Protection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 11"/>
          <p:cNvSpPr/>
          <p:nvPr/>
        </p:nvSpPr>
        <p:spPr>
          <a:xfrm>
            <a:off x="1417320" y="4992480"/>
            <a:ext cx="45716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4a4238"/>
                </a:solidFill>
                <a:latin typeface="Calibri"/>
                <a:ea typeface="Calibri"/>
              </a:rPr>
              <a:t>Direct bank transfers leave both client and artist exposed — no escrow, no dispute process, no recourse.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Shape 12"/>
          <p:cNvSpPr/>
          <p:nvPr/>
        </p:nvSpPr>
        <p:spPr>
          <a:xfrm>
            <a:off x="6537960" y="1828800"/>
            <a:ext cx="4983120" cy="3794400"/>
          </a:xfrm>
          <a:prstGeom prst="roundRect">
            <a:avLst>
              <a:gd name="adj" fmla="val 1928"/>
            </a:avLst>
          </a:prstGeom>
          <a:solidFill>
            <a:srgbClr val="1a1410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Text 13"/>
          <p:cNvSpPr/>
          <p:nvPr/>
        </p:nvSpPr>
        <p:spPr>
          <a:xfrm>
            <a:off x="6903720" y="2148840"/>
            <a:ext cx="42058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200" spc="-1" strike="noStrike">
                <a:solidFill>
                  <a:srgbClr val="b8860b"/>
                </a:solidFill>
                <a:latin typeface="Cambria"/>
                <a:ea typeface="Cambria"/>
              </a:rPr>
              <a:t>$200B+</a:t>
            </a:r>
            <a:endParaRPr b="0" lang="en-US" sz="5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14"/>
          <p:cNvSpPr/>
          <p:nvPr/>
        </p:nvSpPr>
        <p:spPr>
          <a:xfrm>
            <a:off x="6903720" y="3063240"/>
            <a:ext cx="42058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d8cfc0"/>
                </a:solidFill>
                <a:latin typeface="Calibri"/>
                <a:ea typeface="Calibri"/>
              </a:rPr>
              <a:t>Global beauty services market and growing — with independent artists representing a large, underserved segment operating almost entirely offline.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15"/>
          <p:cNvSpPr/>
          <p:nvPr/>
        </p:nvSpPr>
        <p:spPr>
          <a:xfrm>
            <a:off x="6903720" y="4251960"/>
            <a:ext cx="3840480" cy="360"/>
          </a:xfrm>
          <a:prstGeom prst="line">
            <a:avLst/>
          </a:prstGeom>
          <a:ln w="12700">
            <a:solidFill>
              <a:srgbClr val="3a3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16"/>
          <p:cNvSpPr/>
          <p:nvPr/>
        </p:nvSpPr>
        <p:spPr>
          <a:xfrm>
            <a:off x="6903720" y="4434840"/>
            <a:ext cx="420588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f0e9dc"/>
                </a:solidFill>
                <a:latin typeface="Calibri"/>
                <a:ea typeface="Calibri"/>
              </a:rPr>
              <a:t>StyleSeat, Booksy, and GlossGenius all build for professionals — none serve the client discovering and booking an artist. That gap is Leish's opening.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0"/>
          <p:cNvSpPr/>
          <p:nvPr/>
        </p:nvSpPr>
        <p:spPr>
          <a:xfrm>
            <a:off x="457200" y="2926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199" strike="noStrike">
                <a:solidFill>
                  <a:srgbClr val="8a7e6e"/>
                </a:solidFill>
                <a:latin typeface="Calibri"/>
                <a:ea typeface="Calibri"/>
              </a:rPr>
              <a:t>THE SOLUTION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1"/>
          <p:cNvSpPr/>
          <p:nvPr/>
        </p:nvSpPr>
        <p:spPr>
          <a:xfrm>
            <a:off x="8991360" y="2926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8ada0"/>
                </a:solidFill>
                <a:latin typeface="Calibri"/>
                <a:ea typeface="Calibri"/>
              </a:rPr>
              <a:t>LEISH  ·  03 / 14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2"/>
          <p:cNvSpPr/>
          <p:nvPr/>
        </p:nvSpPr>
        <p:spPr>
          <a:xfrm>
            <a:off x="640080" y="777240"/>
            <a:ext cx="107895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a1410"/>
                </a:solidFill>
                <a:latin typeface="Cambria"/>
                <a:ea typeface="Cambria"/>
              </a:rPr>
              <a:t>Portfolio-First Discovery, Escrow-Secured Booking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3"/>
          <p:cNvSpPr/>
          <p:nvPr/>
        </p:nvSpPr>
        <p:spPr>
          <a:xfrm>
            <a:off x="640080" y="141732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4a4238"/>
                </a:solidFill>
                <a:latin typeface="Calibri"/>
                <a:ea typeface="Calibri"/>
              </a:rPr>
              <a:t>Leish brings independent MUAs and studio spaces online properly — with the trust and payment protection Instagram never offered.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Shape 4"/>
          <p:cNvSpPr/>
          <p:nvPr/>
        </p:nvSpPr>
        <p:spPr>
          <a:xfrm>
            <a:off x="640080" y="2148840"/>
            <a:ext cx="2605680" cy="2331360"/>
          </a:xfrm>
          <a:prstGeom prst="roundRect">
            <a:avLst>
              <a:gd name="adj" fmla="val 3137"/>
            </a:avLst>
          </a:prstGeom>
          <a:solidFill>
            <a:srgbClr val="f5f0e8"/>
          </a:solidFill>
          <a:ln w="9525">
            <a:solidFill>
              <a:srgbClr val="e4dccb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Shape 5"/>
          <p:cNvSpPr/>
          <p:nvPr/>
        </p:nvSpPr>
        <p:spPr>
          <a:xfrm>
            <a:off x="868680" y="2404800"/>
            <a:ext cx="548280" cy="548280"/>
          </a:xfrm>
          <a:prstGeom prst="ellipse">
            <a:avLst/>
          </a:prstGeom>
          <a:solidFill>
            <a:srgbClr val="c94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Text 6"/>
          <p:cNvSpPr/>
          <p:nvPr/>
        </p:nvSpPr>
        <p:spPr>
          <a:xfrm>
            <a:off x="841320" y="3108960"/>
            <a:ext cx="2203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a1410"/>
                </a:solidFill>
                <a:latin typeface="Cambria"/>
                <a:ea typeface="Cambria"/>
              </a:rPr>
              <a:t>Verified Portfolios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7"/>
          <p:cNvSpPr/>
          <p:nvPr/>
        </p:nvSpPr>
        <p:spPr>
          <a:xfrm>
            <a:off x="841320" y="3520440"/>
            <a:ext cx="22032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4238"/>
                </a:solidFill>
                <a:latin typeface="Calibri"/>
                <a:ea typeface="Calibri"/>
              </a:rPr>
              <a:t>Real work, real reviews — browse by specialty, state, and district before booking.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Shape 8"/>
          <p:cNvSpPr/>
          <p:nvPr/>
        </p:nvSpPr>
        <p:spPr>
          <a:xfrm>
            <a:off x="3447360" y="2148840"/>
            <a:ext cx="2605680" cy="2331360"/>
          </a:xfrm>
          <a:prstGeom prst="roundRect">
            <a:avLst>
              <a:gd name="adj" fmla="val 3137"/>
            </a:avLst>
          </a:prstGeom>
          <a:solidFill>
            <a:srgbClr val="f5f0e8"/>
          </a:solidFill>
          <a:ln w="9525">
            <a:solidFill>
              <a:srgbClr val="e4dccb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Shape 9"/>
          <p:cNvSpPr/>
          <p:nvPr/>
        </p:nvSpPr>
        <p:spPr>
          <a:xfrm>
            <a:off x="3675960" y="2404800"/>
            <a:ext cx="548280" cy="548280"/>
          </a:xfrm>
          <a:prstGeom prst="ellipse">
            <a:avLst/>
          </a:prstGeom>
          <a:solidFill>
            <a:srgbClr val="b886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10"/>
          <p:cNvSpPr/>
          <p:nvPr/>
        </p:nvSpPr>
        <p:spPr>
          <a:xfrm>
            <a:off x="3648600" y="3108960"/>
            <a:ext cx="2203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a1410"/>
                </a:solidFill>
                <a:latin typeface="Cambria"/>
                <a:ea typeface="Cambria"/>
              </a:rPr>
              <a:t>Direct Booking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11"/>
          <p:cNvSpPr/>
          <p:nvPr/>
        </p:nvSpPr>
        <p:spPr>
          <a:xfrm>
            <a:off x="3648600" y="3520440"/>
            <a:ext cx="22032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4238"/>
                </a:solidFill>
                <a:latin typeface="Calibri"/>
                <a:ea typeface="Calibri"/>
              </a:rPr>
              <a:t>Instant calendar booking — no more waiting on DM replies.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Shape 12"/>
          <p:cNvSpPr/>
          <p:nvPr/>
        </p:nvSpPr>
        <p:spPr>
          <a:xfrm>
            <a:off x="6254640" y="2148840"/>
            <a:ext cx="2605680" cy="2331360"/>
          </a:xfrm>
          <a:prstGeom prst="roundRect">
            <a:avLst>
              <a:gd name="adj" fmla="val 3137"/>
            </a:avLst>
          </a:prstGeom>
          <a:solidFill>
            <a:srgbClr val="f5f0e8"/>
          </a:solidFill>
          <a:ln w="9525">
            <a:solidFill>
              <a:srgbClr val="e4dccb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Shape 13"/>
          <p:cNvSpPr/>
          <p:nvPr/>
        </p:nvSpPr>
        <p:spPr>
          <a:xfrm>
            <a:off x="6483240" y="2404800"/>
            <a:ext cx="548280" cy="548280"/>
          </a:xfrm>
          <a:prstGeom prst="ellipse">
            <a:avLst/>
          </a:prstGeom>
          <a:solidFill>
            <a:srgbClr val="c94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14"/>
          <p:cNvSpPr/>
          <p:nvPr/>
        </p:nvSpPr>
        <p:spPr>
          <a:xfrm>
            <a:off x="6455520" y="3108960"/>
            <a:ext cx="2203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a1410"/>
                </a:solidFill>
                <a:latin typeface="Cambria"/>
                <a:ea typeface="Cambria"/>
              </a:rPr>
              <a:t>Escrow Payments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15"/>
          <p:cNvSpPr/>
          <p:nvPr/>
        </p:nvSpPr>
        <p:spPr>
          <a:xfrm>
            <a:off x="6455520" y="3520440"/>
            <a:ext cx="22032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4238"/>
                </a:solidFill>
                <a:latin typeface="Calibri"/>
                <a:ea typeface="Calibri"/>
              </a:rPr>
              <a:t>Billplz &amp; HitPay hold funds until service completion, protecting both sides.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Shape 16"/>
          <p:cNvSpPr/>
          <p:nvPr/>
        </p:nvSpPr>
        <p:spPr>
          <a:xfrm>
            <a:off x="9061560" y="2148840"/>
            <a:ext cx="2605680" cy="2331360"/>
          </a:xfrm>
          <a:prstGeom prst="roundRect">
            <a:avLst>
              <a:gd name="adj" fmla="val 3137"/>
            </a:avLst>
          </a:prstGeom>
          <a:solidFill>
            <a:srgbClr val="f5f0e8"/>
          </a:solidFill>
          <a:ln w="9525">
            <a:solidFill>
              <a:srgbClr val="e4dccb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Shape 17"/>
          <p:cNvSpPr/>
          <p:nvPr/>
        </p:nvSpPr>
        <p:spPr>
          <a:xfrm>
            <a:off x="9290160" y="2404800"/>
            <a:ext cx="548280" cy="548280"/>
          </a:xfrm>
          <a:prstGeom prst="ellipse">
            <a:avLst/>
          </a:prstGeom>
          <a:solidFill>
            <a:srgbClr val="b886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18"/>
          <p:cNvSpPr/>
          <p:nvPr/>
        </p:nvSpPr>
        <p:spPr>
          <a:xfrm>
            <a:off x="9262800" y="3108960"/>
            <a:ext cx="2203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a1410"/>
                </a:solidFill>
                <a:latin typeface="Cambria"/>
                <a:ea typeface="Cambria"/>
              </a:rPr>
              <a:t>In-App Messaging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19"/>
          <p:cNvSpPr/>
          <p:nvPr/>
        </p:nvSpPr>
        <p:spPr>
          <a:xfrm>
            <a:off x="9262800" y="3520440"/>
            <a:ext cx="22032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4238"/>
                </a:solidFill>
                <a:latin typeface="Calibri"/>
                <a:ea typeface="Calibri"/>
              </a:rPr>
              <a:t>Off-platform contact enforcement keeps transactions — and commission — on Leish.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Shape 20"/>
          <p:cNvSpPr/>
          <p:nvPr/>
        </p:nvSpPr>
        <p:spPr>
          <a:xfrm>
            <a:off x="640080" y="4800600"/>
            <a:ext cx="2514240" cy="776880"/>
          </a:xfrm>
          <a:prstGeom prst="roundRect">
            <a:avLst>
              <a:gd name="adj" fmla="val 49412"/>
            </a:avLst>
          </a:prstGeom>
          <a:solidFill>
            <a:srgbClr val="1a141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 21"/>
          <p:cNvSpPr/>
          <p:nvPr/>
        </p:nvSpPr>
        <p:spPr>
          <a:xfrm>
            <a:off x="640080" y="4800600"/>
            <a:ext cx="2514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Client Browses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22"/>
          <p:cNvSpPr/>
          <p:nvPr/>
        </p:nvSpPr>
        <p:spPr>
          <a:xfrm>
            <a:off x="3173040" y="4800600"/>
            <a:ext cx="2829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8a7e6e"/>
                </a:solidFill>
                <a:latin typeface="Calibri"/>
                <a:ea typeface="Calibri"/>
              </a:rPr>
              <a:t>→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23"/>
          <p:cNvSpPr/>
          <p:nvPr/>
        </p:nvSpPr>
        <p:spPr>
          <a:xfrm>
            <a:off x="3593520" y="4800600"/>
            <a:ext cx="2514240" cy="776880"/>
          </a:xfrm>
          <a:prstGeom prst="roundRect">
            <a:avLst>
              <a:gd name="adj" fmla="val 49412"/>
            </a:avLst>
          </a:prstGeom>
          <a:solidFill>
            <a:srgbClr val="1a141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 24"/>
          <p:cNvSpPr/>
          <p:nvPr/>
        </p:nvSpPr>
        <p:spPr>
          <a:xfrm>
            <a:off x="3291840" y="4800600"/>
            <a:ext cx="2514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Books &amp; Pays into Escrow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25"/>
          <p:cNvSpPr/>
          <p:nvPr/>
        </p:nvSpPr>
        <p:spPr>
          <a:xfrm>
            <a:off x="5824800" y="4800600"/>
            <a:ext cx="2829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8a7e6e"/>
                </a:solidFill>
                <a:latin typeface="Calibri"/>
                <a:ea typeface="Calibri"/>
              </a:rPr>
              <a:t>→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26"/>
          <p:cNvSpPr/>
          <p:nvPr/>
        </p:nvSpPr>
        <p:spPr>
          <a:xfrm>
            <a:off x="6400800" y="4709520"/>
            <a:ext cx="2514240" cy="776880"/>
          </a:xfrm>
          <a:prstGeom prst="roundRect">
            <a:avLst>
              <a:gd name="adj" fmla="val 49412"/>
            </a:avLst>
          </a:prstGeom>
          <a:solidFill>
            <a:srgbClr val="1a141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 27"/>
          <p:cNvSpPr/>
          <p:nvPr/>
        </p:nvSpPr>
        <p:spPr>
          <a:xfrm>
            <a:off x="5943600" y="4800600"/>
            <a:ext cx="2514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MUA Delivers Service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28"/>
          <p:cNvSpPr/>
          <p:nvPr/>
        </p:nvSpPr>
        <p:spPr>
          <a:xfrm>
            <a:off x="8476560" y="4800600"/>
            <a:ext cx="2829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8a7e6e"/>
                </a:solidFill>
                <a:latin typeface="Calibri"/>
                <a:ea typeface="Calibri"/>
              </a:rPr>
              <a:t>→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29"/>
          <p:cNvSpPr/>
          <p:nvPr/>
        </p:nvSpPr>
        <p:spPr>
          <a:xfrm>
            <a:off x="9372600" y="4800600"/>
            <a:ext cx="2514240" cy="776880"/>
          </a:xfrm>
          <a:prstGeom prst="roundRect">
            <a:avLst>
              <a:gd name="adj" fmla="val 49412"/>
            </a:avLst>
          </a:prstGeom>
          <a:solidFill>
            <a:srgbClr val="c94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 30"/>
          <p:cNvSpPr/>
          <p:nvPr/>
        </p:nvSpPr>
        <p:spPr>
          <a:xfrm>
            <a:off x="8595360" y="4800600"/>
            <a:ext cx="2514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Leish Releases Payout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6" name="Image 0" descr="preencoded.png"/>
          <p:cNvPicPr/>
          <p:nvPr/>
        </p:nvPicPr>
        <p:blipFill>
          <a:blip r:embed="rId1"/>
          <a:stretch/>
        </p:blipFill>
        <p:spPr>
          <a:xfrm>
            <a:off x="939960" y="2476080"/>
            <a:ext cx="405720" cy="405720"/>
          </a:xfrm>
          <a:prstGeom prst="rect">
            <a:avLst/>
          </a:prstGeom>
          <a:ln w="0">
            <a:noFill/>
          </a:ln>
        </p:spPr>
      </p:pic>
      <p:pic>
        <p:nvPicPr>
          <p:cNvPr id="67" name="Image 1" descr="preencoded.png"/>
          <p:cNvPicPr/>
          <p:nvPr/>
        </p:nvPicPr>
        <p:blipFill>
          <a:blip r:embed="rId2"/>
          <a:stretch/>
        </p:blipFill>
        <p:spPr>
          <a:xfrm>
            <a:off x="6554520" y="2476080"/>
            <a:ext cx="405720" cy="405720"/>
          </a:xfrm>
          <a:prstGeom prst="rect">
            <a:avLst/>
          </a:prstGeom>
          <a:ln w="0">
            <a:noFill/>
          </a:ln>
        </p:spPr>
      </p:pic>
      <p:pic>
        <p:nvPicPr>
          <p:cNvPr id="68" name="Image 2" descr="preencoded.png"/>
          <p:cNvPicPr/>
          <p:nvPr/>
        </p:nvPicPr>
        <p:blipFill>
          <a:blip r:embed="rId3"/>
          <a:stretch/>
        </p:blipFill>
        <p:spPr>
          <a:xfrm>
            <a:off x="3747240" y="2476080"/>
            <a:ext cx="405720" cy="405720"/>
          </a:xfrm>
          <a:prstGeom prst="rect">
            <a:avLst/>
          </a:prstGeom>
          <a:ln w="0">
            <a:noFill/>
          </a:ln>
        </p:spPr>
      </p:pic>
      <p:pic>
        <p:nvPicPr>
          <p:cNvPr id="69" name="Image 3" descr="preencoded.png"/>
          <p:cNvPicPr/>
          <p:nvPr/>
        </p:nvPicPr>
        <p:blipFill>
          <a:blip r:embed="rId4"/>
          <a:stretch/>
        </p:blipFill>
        <p:spPr>
          <a:xfrm>
            <a:off x="9361800" y="2476080"/>
            <a:ext cx="405720" cy="405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 0"/>
          <p:cNvSpPr/>
          <p:nvPr/>
        </p:nvSpPr>
        <p:spPr>
          <a:xfrm>
            <a:off x="457200" y="2926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199" strike="noStrike">
                <a:solidFill>
                  <a:srgbClr val="8a7e6e"/>
                </a:solidFill>
                <a:latin typeface="Calibri"/>
                <a:ea typeface="Calibri"/>
              </a:rPr>
              <a:t>PRODUCT OVERVIEW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1"/>
          <p:cNvSpPr/>
          <p:nvPr/>
        </p:nvSpPr>
        <p:spPr>
          <a:xfrm>
            <a:off x="8991360" y="2926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8ada0"/>
                </a:solidFill>
                <a:latin typeface="Calibri"/>
                <a:ea typeface="Calibri"/>
              </a:rPr>
              <a:t>LEISH  ·  04 / 14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2"/>
          <p:cNvSpPr/>
          <p:nvPr/>
        </p:nvSpPr>
        <p:spPr>
          <a:xfrm>
            <a:off x="640080" y="777240"/>
            <a:ext cx="107895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a1410"/>
                </a:solidFill>
                <a:latin typeface="Cambria"/>
                <a:ea typeface="Cambria"/>
              </a:rPr>
              <a:t>One Platform, Four Roles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3"/>
          <p:cNvSpPr/>
          <p:nvPr/>
        </p:nvSpPr>
        <p:spPr>
          <a:xfrm>
            <a:off x="640080" y="1691640"/>
            <a:ext cx="5257440" cy="4160160"/>
          </a:xfrm>
          <a:prstGeom prst="roundRect">
            <a:avLst>
              <a:gd name="adj" fmla="val 1758"/>
            </a:avLst>
          </a:prstGeom>
          <a:solidFill>
            <a:srgbClr val="f5f0e8"/>
          </a:solidFill>
          <a:ln w="9525">
            <a:solidFill>
              <a:srgbClr val="e4dccb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4"/>
          <p:cNvSpPr/>
          <p:nvPr/>
        </p:nvSpPr>
        <p:spPr>
          <a:xfrm>
            <a:off x="914400" y="1920240"/>
            <a:ext cx="4571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c94a1a"/>
                </a:solidFill>
                <a:latin typeface="Cambria"/>
                <a:ea typeface="Cambria"/>
              </a:rPr>
              <a:t>For Clients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5"/>
          <p:cNvSpPr/>
          <p:nvPr/>
        </p:nvSpPr>
        <p:spPr>
          <a:xfrm>
            <a:off x="914400" y="2423160"/>
            <a:ext cx="4708800" cy="329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352d24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352d24"/>
                </a:solidFill>
                <a:latin typeface="Calibri"/>
                <a:ea typeface="Calibri"/>
              </a:rPr>
              <a:t>Browse real MUA &amp; studio portfolios before booking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352d24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352d24"/>
                </a:solidFill>
                <a:latin typeface="Calibri"/>
                <a:ea typeface="Calibri"/>
              </a:rPr>
              <a:t>Book directly — no DMs, no uncertainty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352d24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352d24"/>
                </a:solidFill>
                <a:latin typeface="Calibri"/>
                <a:ea typeface="Calibri"/>
              </a:rPr>
              <a:t>Occasion-based discovery, not just weddings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352d24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352d24"/>
                </a:solidFill>
                <a:latin typeface="Calibri"/>
                <a:ea typeface="Calibri"/>
              </a:rPr>
              <a:t>AI concierge to match style, budget &amp; occasion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6"/>
          <p:cNvSpPr/>
          <p:nvPr/>
        </p:nvSpPr>
        <p:spPr>
          <a:xfrm>
            <a:off x="6263640" y="1691640"/>
            <a:ext cx="5257440" cy="4160160"/>
          </a:xfrm>
          <a:prstGeom prst="roundRect">
            <a:avLst>
              <a:gd name="adj" fmla="val 1758"/>
            </a:avLst>
          </a:prstGeom>
          <a:solidFill>
            <a:srgbClr val="f5f0e8"/>
          </a:solidFill>
          <a:ln w="9525">
            <a:solidFill>
              <a:srgbClr val="e4dccb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7"/>
          <p:cNvSpPr/>
          <p:nvPr/>
        </p:nvSpPr>
        <p:spPr>
          <a:xfrm>
            <a:off x="6537960" y="1920240"/>
            <a:ext cx="4571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b8860b"/>
                </a:solidFill>
                <a:latin typeface="Cambria"/>
                <a:ea typeface="Cambria"/>
              </a:rPr>
              <a:t>For MUAs &amp; Studios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8"/>
          <p:cNvSpPr/>
          <p:nvPr/>
        </p:nvSpPr>
        <p:spPr>
          <a:xfrm>
            <a:off x="6537960" y="2423160"/>
            <a:ext cx="4708800" cy="329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352d24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352d24"/>
                </a:solidFill>
                <a:latin typeface="Calibri"/>
                <a:ea typeface="Calibri"/>
              </a:rPr>
              <a:t>Professional profile with booking calendar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352d24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352d24"/>
                </a:solidFill>
                <a:latin typeface="Calibri"/>
                <a:ea typeface="Calibri"/>
              </a:rPr>
              <a:t>Guaranteed payment via escrow model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352d24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352d24"/>
                </a:solidFill>
                <a:latin typeface="Calibri"/>
                <a:ea typeface="Calibri"/>
              </a:rPr>
              <a:t>Business analytics &amp; earnings dashboard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352d24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352d24"/>
                </a:solidFill>
                <a:latin typeface="Calibri"/>
                <a:ea typeface="Calibri"/>
              </a:rPr>
              <a:t>Access to Leish studio spaces for rental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9"/>
          <p:cNvSpPr/>
          <p:nvPr/>
        </p:nvSpPr>
        <p:spPr>
          <a:xfrm>
            <a:off x="640080" y="6080760"/>
            <a:ext cx="2605680" cy="456840"/>
          </a:xfrm>
          <a:prstGeom prst="roundRect">
            <a:avLst>
              <a:gd name="adj" fmla="val 12000"/>
            </a:avLst>
          </a:prstGeom>
          <a:solidFill>
            <a:srgbClr val="1a141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 10"/>
          <p:cNvSpPr/>
          <p:nvPr/>
        </p:nvSpPr>
        <p:spPr>
          <a:xfrm>
            <a:off x="640080" y="6080760"/>
            <a:ext cx="2605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bf8f3"/>
                </a:solidFill>
                <a:latin typeface="Calibri"/>
                <a:ea typeface="Calibri"/>
              </a:rPr>
              <a:t>Customer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11"/>
          <p:cNvSpPr/>
          <p:nvPr/>
        </p:nvSpPr>
        <p:spPr>
          <a:xfrm>
            <a:off x="3447360" y="6080760"/>
            <a:ext cx="2605680" cy="456840"/>
          </a:xfrm>
          <a:prstGeom prst="roundRect">
            <a:avLst>
              <a:gd name="adj" fmla="val 12000"/>
            </a:avLst>
          </a:prstGeom>
          <a:solidFill>
            <a:srgbClr val="1a141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Text 12"/>
          <p:cNvSpPr/>
          <p:nvPr/>
        </p:nvSpPr>
        <p:spPr>
          <a:xfrm>
            <a:off x="3447360" y="6080760"/>
            <a:ext cx="2605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bf8f3"/>
                </a:solidFill>
                <a:latin typeface="Calibri"/>
                <a:ea typeface="Calibri"/>
              </a:rPr>
              <a:t>Artist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13"/>
          <p:cNvSpPr/>
          <p:nvPr/>
        </p:nvSpPr>
        <p:spPr>
          <a:xfrm>
            <a:off x="6254640" y="6080760"/>
            <a:ext cx="2605680" cy="456840"/>
          </a:xfrm>
          <a:prstGeom prst="roundRect">
            <a:avLst>
              <a:gd name="adj" fmla="val 12000"/>
            </a:avLst>
          </a:prstGeom>
          <a:solidFill>
            <a:srgbClr val="1a141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 14"/>
          <p:cNvSpPr/>
          <p:nvPr/>
        </p:nvSpPr>
        <p:spPr>
          <a:xfrm>
            <a:off x="6254640" y="6080760"/>
            <a:ext cx="2605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bf8f3"/>
                </a:solidFill>
                <a:latin typeface="Calibri"/>
                <a:ea typeface="Calibri"/>
              </a:rPr>
              <a:t>Studio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15"/>
          <p:cNvSpPr/>
          <p:nvPr/>
        </p:nvSpPr>
        <p:spPr>
          <a:xfrm>
            <a:off x="9061560" y="6080760"/>
            <a:ext cx="2605680" cy="456840"/>
          </a:xfrm>
          <a:prstGeom prst="roundRect">
            <a:avLst>
              <a:gd name="adj" fmla="val 12000"/>
            </a:avLst>
          </a:prstGeom>
          <a:solidFill>
            <a:srgbClr val="1a141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Text 16"/>
          <p:cNvSpPr/>
          <p:nvPr/>
        </p:nvSpPr>
        <p:spPr>
          <a:xfrm>
            <a:off x="9061560" y="6080760"/>
            <a:ext cx="2605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bf8f3"/>
                </a:solidFill>
                <a:latin typeface="Calibri"/>
                <a:ea typeface="Calibri"/>
              </a:rPr>
              <a:t>Admin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0"/>
          <p:cNvSpPr/>
          <p:nvPr/>
        </p:nvSpPr>
        <p:spPr>
          <a:xfrm>
            <a:off x="457200" y="2926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199" strike="noStrike">
                <a:solidFill>
                  <a:srgbClr val="8a7e6e"/>
                </a:solidFill>
                <a:latin typeface="Calibri"/>
                <a:ea typeface="Calibri"/>
              </a:rPr>
              <a:t>BUSINESS MODEL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1"/>
          <p:cNvSpPr/>
          <p:nvPr/>
        </p:nvSpPr>
        <p:spPr>
          <a:xfrm>
            <a:off x="8991360" y="2926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8ada0"/>
                </a:solidFill>
                <a:latin typeface="Calibri"/>
                <a:ea typeface="Calibri"/>
              </a:rPr>
              <a:t>LEISH  ·  05 / 14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2"/>
          <p:cNvSpPr/>
          <p:nvPr/>
        </p:nvSpPr>
        <p:spPr>
          <a:xfrm>
            <a:off x="640080" y="777240"/>
            <a:ext cx="107895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a1410"/>
                </a:solidFill>
                <a:latin typeface="Cambria"/>
                <a:ea typeface="Cambria"/>
              </a:rPr>
              <a:t>Multi-Stream Commission Marketplace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90" name="Table 0"/>
          <p:cNvGraphicFramePr/>
          <p:nvPr/>
        </p:nvGraphicFramePr>
        <p:xfrm>
          <a:off x="640080" y="1783080"/>
          <a:ext cx="5486040" cy="2267280"/>
        </p:xfrm>
        <a:graphic>
          <a:graphicData uri="http://schemas.openxmlformats.org/drawingml/2006/table">
            <a:tbl>
              <a:tblPr/>
              <a:tblGrid>
                <a:gridCol w="3794760"/>
                <a:gridCol w="1691640"/>
              </a:tblGrid>
              <a:tr h="5666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Transaction Type</a:t>
                      </a:r>
                      <a:endParaRPr b="0" lang="en-US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4dccb"/>
                      </a:solidFill>
                      <a:prstDash val="solid"/>
                    </a:lnL>
                    <a:lnR w="9360">
                      <a:solidFill>
                        <a:srgbClr val="e4dccb"/>
                      </a:solidFill>
                      <a:prstDash val="solid"/>
                    </a:lnR>
                    <a:lnT w="9360">
                      <a:solidFill>
                        <a:srgbClr val="e4dccb"/>
                      </a:solidFill>
                      <a:prstDash val="solid"/>
                    </a:lnT>
                    <a:lnB w="9360">
                      <a:solidFill>
                        <a:srgbClr val="e4dccb"/>
                      </a:solidFill>
                      <a:prstDash val="solid"/>
                    </a:lnB>
                    <a:solidFill>
                      <a:srgbClr val="1a141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Leish Commission</a:t>
                      </a:r>
                      <a:endParaRPr b="0" lang="en-US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4dccb"/>
                      </a:solidFill>
                      <a:prstDash val="solid"/>
                    </a:lnL>
                    <a:lnR w="9360">
                      <a:solidFill>
                        <a:srgbClr val="e4dccb"/>
                      </a:solidFill>
                      <a:prstDash val="solid"/>
                    </a:lnR>
                    <a:lnT w="9360">
                      <a:solidFill>
                        <a:srgbClr val="e4dccb"/>
                      </a:solidFill>
                      <a:prstDash val="solid"/>
                    </a:lnT>
                    <a:lnB w="9360">
                      <a:solidFill>
                        <a:srgbClr val="e4dccb"/>
                      </a:solidFill>
                      <a:prstDash val="solid"/>
                    </a:lnB>
                    <a:solidFill>
                      <a:srgbClr val="1a1410"/>
                    </a:solidFill>
                  </a:tcPr>
                </a:tc>
              </a:tr>
              <a:tr h="5666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352d24"/>
                          </a:solidFill>
                          <a:latin typeface="Calibri"/>
                          <a:ea typeface="Calibri"/>
                        </a:rPr>
                        <a:t>Client books MUA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4dccb"/>
                      </a:solidFill>
                      <a:prstDash val="solid"/>
                    </a:lnL>
                    <a:lnR w="9360">
                      <a:solidFill>
                        <a:srgbClr val="e4dccb"/>
                      </a:solidFill>
                      <a:prstDash val="solid"/>
                    </a:lnR>
                    <a:lnT w="9360">
                      <a:solidFill>
                        <a:srgbClr val="e4dccb"/>
                      </a:solidFill>
                      <a:prstDash val="solid"/>
                    </a:lnT>
                    <a:lnB w="9360">
                      <a:solidFill>
                        <a:srgbClr val="e4dc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350" spc="-1" strike="noStrike">
                          <a:solidFill>
                            <a:srgbClr val="c94a1a"/>
                          </a:solidFill>
                          <a:latin typeface="Calibri"/>
                          <a:ea typeface="Calibri"/>
                        </a:rPr>
                        <a:t>12%</a:t>
                      </a:r>
                      <a:endParaRPr b="0" lang="en-US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4dccb"/>
                      </a:solidFill>
                      <a:prstDash val="solid"/>
                    </a:lnL>
                    <a:lnR w="9360">
                      <a:solidFill>
                        <a:srgbClr val="e4dccb"/>
                      </a:solidFill>
                      <a:prstDash val="solid"/>
                    </a:lnR>
                    <a:lnT w="9360">
                      <a:solidFill>
                        <a:srgbClr val="e4dccb"/>
                      </a:solidFill>
                      <a:prstDash val="solid"/>
                    </a:lnT>
                    <a:lnB w="9360">
                      <a:solidFill>
                        <a:srgbClr val="e4dc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6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352d24"/>
                          </a:solidFill>
                          <a:latin typeface="Calibri"/>
                          <a:ea typeface="Calibri"/>
                        </a:rPr>
                        <a:t>Client books Studio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4dccb"/>
                      </a:solidFill>
                      <a:prstDash val="solid"/>
                    </a:lnL>
                    <a:lnR w="9360">
                      <a:solidFill>
                        <a:srgbClr val="e4dccb"/>
                      </a:solidFill>
                      <a:prstDash val="solid"/>
                    </a:lnR>
                    <a:lnT w="9360">
                      <a:solidFill>
                        <a:srgbClr val="e4dccb"/>
                      </a:solidFill>
                      <a:prstDash val="solid"/>
                    </a:lnT>
                    <a:lnB w="9360">
                      <a:solidFill>
                        <a:srgbClr val="e4dc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350" spc="-1" strike="noStrike">
                          <a:solidFill>
                            <a:srgbClr val="c94a1a"/>
                          </a:solidFill>
                          <a:latin typeface="Calibri"/>
                          <a:ea typeface="Calibri"/>
                        </a:rPr>
                        <a:t>15%</a:t>
                      </a:r>
                      <a:endParaRPr b="0" lang="en-US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4dccb"/>
                      </a:solidFill>
                      <a:prstDash val="solid"/>
                    </a:lnL>
                    <a:lnR w="9360">
                      <a:solidFill>
                        <a:srgbClr val="e4dccb"/>
                      </a:solidFill>
                      <a:prstDash val="solid"/>
                    </a:lnR>
                    <a:lnT w="9360">
                      <a:solidFill>
                        <a:srgbClr val="e4dccb"/>
                      </a:solidFill>
                      <a:prstDash val="solid"/>
                    </a:lnT>
                    <a:lnB w="9360">
                      <a:solidFill>
                        <a:srgbClr val="e4dc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6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352d24"/>
                          </a:solidFill>
                          <a:latin typeface="Calibri"/>
                          <a:ea typeface="Calibri"/>
                        </a:rPr>
                        <a:t>MUA rents external studio via Leish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4dccb"/>
                      </a:solidFill>
                      <a:prstDash val="solid"/>
                    </a:lnL>
                    <a:lnR w="9360">
                      <a:solidFill>
                        <a:srgbClr val="e4dccb"/>
                      </a:solidFill>
                      <a:prstDash val="solid"/>
                    </a:lnR>
                    <a:lnT w="9360">
                      <a:solidFill>
                        <a:srgbClr val="e4dccb"/>
                      </a:solidFill>
                      <a:prstDash val="solid"/>
                    </a:lnT>
                    <a:lnB w="9360">
                      <a:solidFill>
                        <a:srgbClr val="e4dc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350" spc="-1" strike="noStrike">
                          <a:solidFill>
                            <a:srgbClr val="c94a1a"/>
                          </a:solidFill>
                          <a:latin typeface="Calibri"/>
                          <a:ea typeface="Calibri"/>
                        </a:rPr>
                        <a:t>20%</a:t>
                      </a:r>
                      <a:endParaRPr b="0" lang="en-US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4dccb"/>
                      </a:solidFill>
                      <a:prstDash val="solid"/>
                    </a:lnL>
                    <a:lnR w="9360">
                      <a:solidFill>
                        <a:srgbClr val="e4dccb"/>
                      </a:solidFill>
                      <a:prstDash val="solid"/>
                    </a:lnR>
                    <a:lnT w="9360">
                      <a:solidFill>
                        <a:srgbClr val="e4dccb"/>
                      </a:solidFill>
                      <a:prstDash val="solid"/>
                    </a:lnT>
                    <a:lnB w="9360">
                      <a:solidFill>
                        <a:srgbClr val="e4dc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1" name="Text 3"/>
          <p:cNvSpPr/>
          <p:nvPr/>
        </p:nvSpPr>
        <p:spPr>
          <a:xfrm>
            <a:off x="640080" y="4160520"/>
            <a:ext cx="5486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8a7e6e"/>
                </a:solidFill>
                <a:latin typeface="Calibri"/>
                <a:ea typeface="Calibri"/>
              </a:rPr>
              <a:t>Escrow model: clients pay Leish first; funds are released to the provider after service completion — protecting both sides and giving Leish working-capital float.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4"/>
          <p:cNvSpPr/>
          <p:nvPr/>
        </p:nvSpPr>
        <p:spPr>
          <a:xfrm>
            <a:off x="6537960" y="1783080"/>
            <a:ext cx="4937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1410"/>
                </a:solidFill>
                <a:latin typeface="Cambria"/>
                <a:ea typeface="Cambria"/>
              </a:rPr>
              <a:t>Year 3 Revenue Mix (Modeled)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93" name="Chart 0"/>
          <p:cNvGraphicFramePr/>
          <p:nvPr/>
        </p:nvGraphicFramePr>
        <p:xfrm>
          <a:off x="6537960" y="2103120"/>
          <a:ext cx="5028840" cy="3565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 0"/>
          <p:cNvSpPr/>
          <p:nvPr/>
        </p:nvSpPr>
        <p:spPr>
          <a:xfrm>
            <a:off x="457200" y="2926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199" strike="noStrike">
                <a:solidFill>
                  <a:srgbClr val="8a7e6e"/>
                </a:solidFill>
                <a:latin typeface="Calibri"/>
                <a:ea typeface="Calibri"/>
              </a:rPr>
              <a:t>WHERE WE ARE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1"/>
          <p:cNvSpPr/>
          <p:nvPr/>
        </p:nvSpPr>
        <p:spPr>
          <a:xfrm>
            <a:off x="8991360" y="2926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8ada0"/>
                </a:solidFill>
                <a:latin typeface="Calibri"/>
                <a:ea typeface="Calibri"/>
              </a:rPr>
              <a:t>LEISH  ·  06 / 14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2"/>
          <p:cNvSpPr/>
          <p:nvPr/>
        </p:nvSpPr>
        <p:spPr>
          <a:xfrm>
            <a:off x="640080" y="777240"/>
            <a:ext cx="107895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a1410"/>
                </a:solidFill>
                <a:latin typeface="Cambria"/>
                <a:ea typeface="Cambria"/>
              </a:rPr>
              <a:t>Platform Built. Live in Pre-Launch Mode.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3"/>
          <p:cNvSpPr/>
          <p:nvPr/>
        </p:nvSpPr>
        <p:spPr>
          <a:xfrm>
            <a:off x="640080" y="146304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4a4238"/>
                </a:solidFill>
                <a:latin typeface="Calibri"/>
                <a:ea typeface="Calibri"/>
              </a:rPr>
              <a:t>Booking flow, MUA onboarding, studio management, escrow payments, in-app messaging, and AI concierge are all operational at app.leish.my.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Shape 4"/>
          <p:cNvSpPr/>
          <p:nvPr/>
        </p:nvSpPr>
        <p:spPr>
          <a:xfrm>
            <a:off x="640080" y="2148840"/>
            <a:ext cx="3428640" cy="1371240"/>
          </a:xfrm>
          <a:prstGeom prst="roundRect">
            <a:avLst>
              <a:gd name="adj" fmla="val 5333"/>
            </a:avLst>
          </a:prstGeom>
          <a:solidFill>
            <a:srgbClr val="f5f0e8"/>
          </a:solidFill>
          <a:ln w="9525">
            <a:solidFill>
              <a:srgbClr val="e4dccb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5"/>
          <p:cNvSpPr/>
          <p:nvPr/>
        </p:nvSpPr>
        <p:spPr>
          <a:xfrm>
            <a:off x="841320" y="2350080"/>
            <a:ext cx="502560" cy="502560"/>
          </a:xfrm>
          <a:prstGeom prst="ellipse">
            <a:avLst/>
          </a:prstGeom>
          <a:solidFill>
            <a:srgbClr val="4a7c5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0" name="Image 0" descr="preencoded.png"/>
          <p:cNvPicPr/>
          <p:nvPr/>
        </p:nvPicPr>
        <p:blipFill>
          <a:blip r:embed="rId1"/>
          <a:stretch/>
        </p:blipFill>
        <p:spPr>
          <a:xfrm>
            <a:off x="906480" y="2415240"/>
            <a:ext cx="371880" cy="371880"/>
          </a:xfrm>
          <a:prstGeom prst="rect">
            <a:avLst/>
          </a:prstGeom>
          <a:ln w="0">
            <a:noFill/>
          </a:ln>
        </p:spPr>
      </p:pic>
      <p:sp>
        <p:nvSpPr>
          <p:cNvPr id="101" name="Text 6"/>
          <p:cNvSpPr/>
          <p:nvPr/>
        </p:nvSpPr>
        <p:spPr>
          <a:xfrm>
            <a:off x="1463040" y="2313360"/>
            <a:ext cx="2422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a1410"/>
                </a:solidFill>
                <a:latin typeface="Cambria"/>
                <a:ea typeface="Cambria"/>
              </a:rPr>
              <a:t>Platform (leish.my)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7"/>
          <p:cNvSpPr/>
          <p:nvPr/>
        </p:nvSpPr>
        <p:spPr>
          <a:xfrm>
            <a:off x="841320" y="2926080"/>
            <a:ext cx="3026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4a4238"/>
                </a:solidFill>
                <a:latin typeface="Calibri"/>
                <a:ea typeface="Calibri"/>
              </a:rPr>
              <a:t>Built — live in pre-launch mode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Shape 8"/>
          <p:cNvSpPr/>
          <p:nvPr/>
        </p:nvSpPr>
        <p:spPr>
          <a:xfrm>
            <a:off x="4251960" y="2148840"/>
            <a:ext cx="3428640" cy="1371240"/>
          </a:xfrm>
          <a:prstGeom prst="roundRect">
            <a:avLst>
              <a:gd name="adj" fmla="val 5333"/>
            </a:avLst>
          </a:prstGeom>
          <a:solidFill>
            <a:srgbClr val="f5f0e8"/>
          </a:solidFill>
          <a:ln w="9525">
            <a:solidFill>
              <a:srgbClr val="e4dccb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9"/>
          <p:cNvSpPr/>
          <p:nvPr/>
        </p:nvSpPr>
        <p:spPr>
          <a:xfrm>
            <a:off x="4453200" y="2350080"/>
            <a:ext cx="502560" cy="502560"/>
          </a:xfrm>
          <a:prstGeom prst="ellipse">
            <a:avLst/>
          </a:prstGeom>
          <a:solidFill>
            <a:srgbClr val="4a7c5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5" name="Image 1" descr="preencoded.png"/>
          <p:cNvPicPr/>
          <p:nvPr/>
        </p:nvPicPr>
        <p:blipFill>
          <a:blip r:embed="rId2"/>
          <a:stretch/>
        </p:blipFill>
        <p:spPr>
          <a:xfrm>
            <a:off x="4518360" y="2415240"/>
            <a:ext cx="371880" cy="371880"/>
          </a:xfrm>
          <a:prstGeom prst="rect">
            <a:avLst/>
          </a:prstGeom>
          <a:ln w="0">
            <a:noFill/>
          </a:ln>
        </p:spPr>
      </p:pic>
      <p:sp>
        <p:nvSpPr>
          <p:cNvPr id="106" name="Text 10"/>
          <p:cNvSpPr/>
          <p:nvPr/>
        </p:nvSpPr>
        <p:spPr>
          <a:xfrm>
            <a:off x="5074920" y="2313360"/>
            <a:ext cx="2422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a1410"/>
                </a:solidFill>
                <a:latin typeface="Cambria"/>
                <a:ea typeface="Cambria"/>
              </a:rPr>
              <a:t>Payments (Escrow)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11"/>
          <p:cNvSpPr/>
          <p:nvPr/>
        </p:nvSpPr>
        <p:spPr>
          <a:xfrm>
            <a:off x="4453200" y="2926080"/>
            <a:ext cx="3026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4a4238"/>
                </a:solidFill>
                <a:latin typeface="Calibri"/>
                <a:ea typeface="Calibri"/>
              </a:rPr>
              <a:t>Billplz + HitPay integrated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Shape 12"/>
          <p:cNvSpPr/>
          <p:nvPr/>
        </p:nvSpPr>
        <p:spPr>
          <a:xfrm>
            <a:off x="7863840" y="2148840"/>
            <a:ext cx="3428640" cy="1371240"/>
          </a:xfrm>
          <a:prstGeom prst="roundRect">
            <a:avLst>
              <a:gd name="adj" fmla="val 5333"/>
            </a:avLst>
          </a:prstGeom>
          <a:solidFill>
            <a:srgbClr val="f5f0e8"/>
          </a:solidFill>
          <a:ln w="9525">
            <a:solidFill>
              <a:srgbClr val="e4dccb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Shape 13"/>
          <p:cNvSpPr/>
          <p:nvPr/>
        </p:nvSpPr>
        <p:spPr>
          <a:xfrm>
            <a:off x="8065080" y="2350080"/>
            <a:ext cx="502560" cy="502560"/>
          </a:xfrm>
          <a:prstGeom prst="ellipse">
            <a:avLst/>
          </a:prstGeom>
          <a:solidFill>
            <a:srgbClr val="4a7c5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0" name="Image 2" descr="preencoded.png"/>
          <p:cNvPicPr/>
          <p:nvPr/>
        </p:nvPicPr>
        <p:blipFill>
          <a:blip r:embed="rId3"/>
          <a:stretch/>
        </p:blipFill>
        <p:spPr>
          <a:xfrm>
            <a:off x="8130240" y="2415240"/>
            <a:ext cx="371880" cy="371880"/>
          </a:xfrm>
          <a:prstGeom prst="rect">
            <a:avLst/>
          </a:prstGeom>
          <a:ln w="0">
            <a:noFill/>
          </a:ln>
        </p:spPr>
      </p:pic>
      <p:sp>
        <p:nvSpPr>
          <p:cNvPr id="111" name="Text 14"/>
          <p:cNvSpPr/>
          <p:nvPr/>
        </p:nvSpPr>
        <p:spPr>
          <a:xfrm>
            <a:off x="8686800" y="2313360"/>
            <a:ext cx="2422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a1410"/>
                </a:solidFill>
                <a:latin typeface="Cambria"/>
                <a:ea typeface="Cambria"/>
              </a:rPr>
              <a:t>Email System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15"/>
          <p:cNvSpPr/>
          <p:nvPr/>
        </p:nvSpPr>
        <p:spPr>
          <a:xfrm>
            <a:off x="8065080" y="2926080"/>
            <a:ext cx="3026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4a4238"/>
                </a:solidFill>
                <a:latin typeface="Calibri"/>
                <a:ea typeface="Calibri"/>
              </a:rPr>
              <a:t>Brevo — transactional + inbox live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Shape 16"/>
          <p:cNvSpPr/>
          <p:nvPr/>
        </p:nvSpPr>
        <p:spPr>
          <a:xfrm>
            <a:off x="640080" y="3749040"/>
            <a:ext cx="3428640" cy="1371240"/>
          </a:xfrm>
          <a:prstGeom prst="roundRect">
            <a:avLst>
              <a:gd name="adj" fmla="val 5333"/>
            </a:avLst>
          </a:prstGeom>
          <a:solidFill>
            <a:srgbClr val="f5f0e8"/>
          </a:solidFill>
          <a:ln w="9525">
            <a:solidFill>
              <a:srgbClr val="e4dccb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Shape 17"/>
          <p:cNvSpPr/>
          <p:nvPr/>
        </p:nvSpPr>
        <p:spPr>
          <a:xfrm>
            <a:off x="841320" y="3950280"/>
            <a:ext cx="502560" cy="502560"/>
          </a:xfrm>
          <a:prstGeom prst="ellipse">
            <a:avLst/>
          </a:prstGeom>
          <a:solidFill>
            <a:srgbClr val="4a7c5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5" name="Image 3" descr="preencoded.png"/>
          <p:cNvPicPr/>
          <p:nvPr/>
        </p:nvPicPr>
        <p:blipFill>
          <a:blip r:embed="rId4"/>
          <a:stretch/>
        </p:blipFill>
        <p:spPr>
          <a:xfrm>
            <a:off x="906480" y="4015440"/>
            <a:ext cx="371880" cy="371880"/>
          </a:xfrm>
          <a:prstGeom prst="rect">
            <a:avLst/>
          </a:prstGeom>
          <a:ln w="0">
            <a:noFill/>
          </a:ln>
        </p:spPr>
      </p:pic>
      <p:sp>
        <p:nvSpPr>
          <p:cNvPr id="116" name="Text 18"/>
          <p:cNvSpPr/>
          <p:nvPr/>
        </p:nvSpPr>
        <p:spPr>
          <a:xfrm>
            <a:off x="1463040" y="3913560"/>
            <a:ext cx="2422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a1410"/>
                </a:solidFill>
                <a:latin typeface="Cambria"/>
                <a:ea typeface="Cambria"/>
              </a:rPr>
              <a:t>SSM Registration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19"/>
          <p:cNvSpPr/>
          <p:nvPr/>
        </p:nvSpPr>
        <p:spPr>
          <a:xfrm>
            <a:off x="841320" y="4526280"/>
            <a:ext cx="3026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4a4238"/>
                </a:solidFill>
                <a:latin typeface="Calibri"/>
                <a:ea typeface="Calibri"/>
              </a:rPr>
              <a:t>Duta Integra Solutions (Sole Prop) registered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Shape 20"/>
          <p:cNvSpPr/>
          <p:nvPr/>
        </p:nvSpPr>
        <p:spPr>
          <a:xfrm>
            <a:off x="4251960" y="3749040"/>
            <a:ext cx="3428640" cy="1371240"/>
          </a:xfrm>
          <a:prstGeom prst="roundRect">
            <a:avLst>
              <a:gd name="adj" fmla="val 5333"/>
            </a:avLst>
          </a:prstGeom>
          <a:solidFill>
            <a:srgbClr val="f5f0e8"/>
          </a:solidFill>
          <a:ln w="9525">
            <a:solidFill>
              <a:srgbClr val="e4dccb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Shape 21"/>
          <p:cNvSpPr/>
          <p:nvPr/>
        </p:nvSpPr>
        <p:spPr>
          <a:xfrm>
            <a:off x="4453200" y="3950280"/>
            <a:ext cx="502560" cy="502560"/>
          </a:xfrm>
          <a:prstGeom prst="ellipse">
            <a:avLst/>
          </a:prstGeom>
          <a:solidFill>
            <a:srgbClr val="b886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0" name="Image 4" descr="preencoded.png"/>
          <p:cNvPicPr/>
          <p:nvPr/>
        </p:nvPicPr>
        <p:blipFill>
          <a:blip r:embed="rId5"/>
          <a:stretch/>
        </p:blipFill>
        <p:spPr>
          <a:xfrm>
            <a:off x="4518360" y="4015440"/>
            <a:ext cx="371880" cy="371880"/>
          </a:xfrm>
          <a:prstGeom prst="rect">
            <a:avLst/>
          </a:prstGeom>
          <a:ln w="0">
            <a:noFill/>
          </a:ln>
        </p:spPr>
      </p:pic>
      <p:sp>
        <p:nvSpPr>
          <p:cNvPr id="121" name="Text 22"/>
          <p:cNvSpPr/>
          <p:nvPr/>
        </p:nvSpPr>
        <p:spPr>
          <a:xfrm>
            <a:off x="5074920" y="3913560"/>
            <a:ext cx="2422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a1410"/>
                </a:solidFill>
                <a:latin typeface="Cambria"/>
                <a:ea typeface="Cambria"/>
              </a:rPr>
              <a:t>MUA Supply Seeding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23"/>
          <p:cNvSpPr/>
          <p:nvPr/>
        </p:nvSpPr>
        <p:spPr>
          <a:xfrm>
            <a:off x="4453200" y="4526280"/>
            <a:ext cx="3026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4a4238"/>
                </a:solidFill>
                <a:latin typeface="Calibri"/>
                <a:ea typeface="Calibri"/>
              </a:rPr>
              <a:t>In progress — Leiynda leading KL, Penang, JB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Shape 24"/>
          <p:cNvSpPr/>
          <p:nvPr/>
        </p:nvSpPr>
        <p:spPr>
          <a:xfrm>
            <a:off x="7863840" y="3749040"/>
            <a:ext cx="3428640" cy="1371240"/>
          </a:xfrm>
          <a:prstGeom prst="roundRect">
            <a:avLst>
              <a:gd name="adj" fmla="val 5333"/>
            </a:avLst>
          </a:prstGeom>
          <a:solidFill>
            <a:srgbClr val="f5f0e8"/>
          </a:solidFill>
          <a:ln w="9525">
            <a:solidFill>
              <a:srgbClr val="e4dccb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hape 25"/>
          <p:cNvSpPr/>
          <p:nvPr/>
        </p:nvSpPr>
        <p:spPr>
          <a:xfrm>
            <a:off x="8065080" y="3950280"/>
            <a:ext cx="502560" cy="502560"/>
          </a:xfrm>
          <a:prstGeom prst="ellipse">
            <a:avLst/>
          </a:prstGeom>
          <a:solidFill>
            <a:srgbClr val="b886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5" name="Image 5" descr="preencoded.png"/>
          <p:cNvPicPr/>
          <p:nvPr/>
        </p:nvPicPr>
        <p:blipFill>
          <a:blip r:embed="rId6"/>
          <a:stretch/>
        </p:blipFill>
        <p:spPr>
          <a:xfrm>
            <a:off x="8130240" y="4015440"/>
            <a:ext cx="371880" cy="371880"/>
          </a:xfrm>
          <a:prstGeom prst="rect">
            <a:avLst/>
          </a:prstGeom>
          <a:ln w="0">
            <a:noFill/>
          </a:ln>
        </p:spPr>
      </p:pic>
      <p:sp>
        <p:nvSpPr>
          <p:cNvPr id="126" name="Text 26"/>
          <p:cNvSpPr/>
          <p:nvPr/>
        </p:nvSpPr>
        <p:spPr>
          <a:xfrm>
            <a:off x="8686800" y="3913560"/>
            <a:ext cx="2422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a1410"/>
                </a:solidFill>
                <a:latin typeface="Cambria"/>
                <a:ea typeface="Cambria"/>
              </a:rPr>
              <a:t>Legal Documents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27"/>
          <p:cNvSpPr/>
          <p:nvPr/>
        </p:nvSpPr>
        <p:spPr>
          <a:xfrm>
            <a:off x="8065080" y="4526280"/>
            <a:ext cx="3026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4a4238"/>
                </a:solidFill>
                <a:latin typeface="Calibri"/>
                <a:ea typeface="Calibri"/>
              </a:rPr>
              <a:t>Drafted — pending entity details on deploy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28"/>
          <p:cNvSpPr/>
          <p:nvPr/>
        </p:nvSpPr>
        <p:spPr>
          <a:xfrm>
            <a:off x="640080" y="5623560"/>
            <a:ext cx="10881000" cy="776880"/>
          </a:xfrm>
          <a:prstGeom prst="roundRect">
            <a:avLst>
              <a:gd name="adj" fmla="val 9412"/>
            </a:avLst>
          </a:prstGeom>
          <a:solidFill>
            <a:srgbClr val="1a1410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Text 29"/>
          <p:cNvSpPr/>
          <p:nvPr/>
        </p:nvSpPr>
        <p:spPr>
          <a:xfrm>
            <a:off x="914400" y="5623560"/>
            <a:ext cx="103323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d8cfc0"/>
                </a:solidFill>
                <a:latin typeface="Calibri"/>
                <a:ea typeface="Calibri"/>
              </a:rPr>
              <a:t>One conversion remains before the seed round closes:  </a:t>
            </a:r>
            <a:r>
              <a:rPr b="1" lang="en-US" sz="1250" spc="-1" strike="noStrike">
                <a:solidFill>
                  <a:srgbClr val="b8860b"/>
                </a:solidFill>
                <a:latin typeface="Calibri"/>
                <a:ea typeface="Calibri"/>
              </a:rPr>
              <a:t>Sdn Bhd conversion</a:t>
            </a:r>
            <a:r>
              <a:rPr b="0" lang="en-US" sz="1250" spc="-1" strike="noStrike">
                <a:solidFill>
                  <a:srgbClr val="d8cfc0"/>
                </a:solidFill>
                <a:latin typeface="Calibri"/>
                <a:ea typeface="Calibri"/>
              </a:rPr>
              <a:t> — a Sole Proprietorship cannot issue shares. This is scheduled ahead of investor close.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 0"/>
          <p:cNvSpPr/>
          <p:nvPr/>
        </p:nvSpPr>
        <p:spPr>
          <a:xfrm>
            <a:off x="457200" y="2926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199" strike="noStrike">
                <a:solidFill>
                  <a:srgbClr val="8a7e6e"/>
                </a:solidFill>
                <a:latin typeface="Calibri"/>
                <a:ea typeface="Calibri"/>
              </a:rPr>
              <a:t>MARKET &amp; COMPETITION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1"/>
          <p:cNvSpPr/>
          <p:nvPr/>
        </p:nvSpPr>
        <p:spPr>
          <a:xfrm>
            <a:off x="8991360" y="2926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8ada0"/>
                </a:solidFill>
                <a:latin typeface="Calibri"/>
                <a:ea typeface="Calibri"/>
              </a:rPr>
              <a:t>LEISH  ·  07 / 14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 2"/>
          <p:cNvSpPr/>
          <p:nvPr/>
        </p:nvSpPr>
        <p:spPr>
          <a:xfrm>
            <a:off x="640080" y="777240"/>
            <a:ext cx="107895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a1410"/>
                </a:solidFill>
                <a:latin typeface="Cambria"/>
                <a:ea typeface="Cambria"/>
              </a:rPr>
              <a:t>A Large Market. No Client-First Leader.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33" name="Table 0"/>
          <p:cNvGraphicFramePr/>
          <p:nvPr/>
        </p:nvGraphicFramePr>
        <p:xfrm>
          <a:off x="640080" y="1737360"/>
          <a:ext cx="10881000" cy="2267280"/>
        </p:xfrm>
        <a:graphic>
          <a:graphicData uri="http://schemas.openxmlformats.org/drawingml/2006/table">
            <a:tbl>
              <a:tblPr/>
              <a:tblGrid>
                <a:gridCol w="2103120"/>
                <a:gridCol w="4206240"/>
                <a:gridCol w="4572000"/>
              </a:tblGrid>
              <a:tr h="5666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Competitor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4dccb"/>
                      </a:solidFill>
                      <a:prstDash val="solid"/>
                    </a:lnL>
                    <a:lnR w="9360">
                      <a:solidFill>
                        <a:srgbClr val="e4dccb"/>
                      </a:solidFill>
                      <a:prstDash val="solid"/>
                    </a:lnR>
                    <a:lnT w="9360">
                      <a:solidFill>
                        <a:srgbClr val="e4dccb"/>
                      </a:solidFill>
                      <a:prstDash val="solid"/>
                    </a:lnT>
                    <a:lnB w="9360">
                      <a:solidFill>
                        <a:srgbClr val="e4dccb"/>
                      </a:solidFill>
                      <a:prstDash val="solid"/>
                    </a:lnB>
                    <a:solidFill>
                      <a:srgbClr val="1a141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Weakness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4dccb"/>
                      </a:solidFill>
                      <a:prstDash val="solid"/>
                    </a:lnL>
                    <a:lnR w="9360">
                      <a:solidFill>
                        <a:srgbClr val="e4dccb"/>
                      </a:solidFill>
                      <a:prstDash val="solid"/>
                    </a:lnR>
                    <a:lnT w="9360">
                      <a:solidFill>
                        <a:srgbClr val="e4dccb"/>
                      </a:solidFill>
                      <a:prstDash val="solid"/>
                    </a:lnT>
                    <a:lnB w="9360">
                      <a:solidFill>
                        <a:srgbClr val="e4dccb"/>
                      </a:solidFill>
                      <a:prstDash val="solid"/>
                    </a:lnB>
                    <a:solidFill>
                      <a:srgbClr val="1a141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Leish Advantage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4dccb"/>
                      </a:solidFill>
                      <a:prstDash val="solid"/>
                    </a:lnL>
                    <a:lnR w="9360">
                      <a:solidFill>
                        <a:srgbClr val="e4dccb"/>
                      </a:solidFill>
                      <a:prstDash val="solid"/>
                    </a:lnR>
                    <a:lnT w="9360">
                      <a:solidFill>
                        <a:srgbClr val="e4dccb"/>
                      </a:solidFill>
                      <a:prstDash val="solid"/>
                    </a:lnT>
                    <a:lnB w="9360">
                      <a:solidFill>
                        <a:srgbClr val="e4dccb"/>
                      </a:solidFill>
                      <a:prstDash val="solid"/>
                    </a:lnB>
                    <a:solidFill>
                      <a:srgbClr val="1a1410"/>
                    </a:solidFill>
                  </a:tcPr>
                </a:tc>
              </a:tr>
              <a:tr h="5666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52d24"/>
                          </a:solidFill>
                          <a:latin typeface="Calibri"/>
                          <a:ea typeface="Calibri"/>
                        </a:rPr>
                        <a:t>StyleSeat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4dccb"/>
                      </a:solidFill>
                      <a:prstDash val="solid"/>
                    </a:lnL>
                    <a:lnR w="9360">
                      <a:solidFill>
                        <a:srgbClr val="e4dccb"/>
                      </a:solidFill>
                      <a:prstDash val="solid"/>
                    </a:lnR>
                    <a:lnT w="9360">
                      <a:solidFill>
                        <a:srgbClr val="e4dccb"/>
                      </a:solidFill>
                      <a:prstDash val="solid"/>
                    </a:lnT>
                    <a:lnB w="9360">
                      <a:solidFill>
                        <a:srgbClr val="e4dc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52d24"/>
                          </a:solidFill>
                          <a:latin typeface="Calibri"/>
                          <a:ea typeface="Calibri"/>
                        </a:rPr>
                        <a:t>Markets to professionals, not clients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4dccb"/>
                      </a:solidFill>
                      <a:prstDash val="solid"/>
                    </a:lnL>
                    <a:lnR w="9360">
                      <a:solidFill>
                        <a:srgbClr val="e4dccb"/>
                      </a:solidFill>
                      <a:prstDash val="solid"/>
                    </a:lnR>
                    <a:lnT w="9360">
                      <a:solidFill>
                        <a:srgbClr val="e4dccb"/>
                      </a:solidFill>
                      <a:prstDash val="solid"/>
                    </a:lnT>
                    <a:lnB w="9360">
                      <a:solidFill>
                        <a:srgbClr val="e4dc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c94a1a"/>
                          </a:solidFill>
                          <a:latin typeface="Calibri"/>
                          <a:ea typeface="Calibri"/>
                        </a:rPr>
                        <a:t>Client-first discovery experience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4dccb"/>
                      </a:solidFill>
                      <a:prstDash val="solid"/>
                    </a:lnL>
                    <a:lnR w="9360">
                      <a:solidFill>
                        <a:srgbClr val="e4dccb"/>
                      </a:solidFill>
                      <a:prstDash val="solid"/>
                    </a:lnR>
                    <a:lnT w="9360">
                      <a:solidFill>
                        <a:srgbClr val="e4dccb"/>
                      </a:solidFill>
                      <a:prstDash val="solid"/>
                    </a:lnT>
                    <a:lnB w="9360">
                      <a:solidFill>
                        <a:srgbClr val="e4dc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6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52d24"/>
                          </a:solidFill>
                          <a:latin typeface="Calibri"/>
                          <a:ea typeface="Calibri"/>
                        </a:rPr>
                        <a:t>Booksy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4dccb"/>
                      </a:solidFill>
                      <a:prstDash val="solid"/>
                    </a:lnL>
                    <a:lnR w="9360">
                      <a:solidFill>
                        <a:srgbClr val="e4dccb"/>
                      </a:solidFill>
                      <a:prstDash val="solid"/>
                    </a:lnR>
                    <a:lnT w="9360">
                      <a:solidFill>
                        <a:srgbClr val="e4dccb"/>
                      </a:solidFill>
                      <a:prstDash val="solid"/>
                    </a:lnT>
                    <a:lnB w="9360">
                      <a:solidFill>
                        <a:srgbClr val="e4dc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52d24"/>
                          </a:solidFill>
                          <a:latin typeface="Calibri"/>
                          <a:ea typeface="Calibri"/>
                        </a:rPr>
                        <a:t>Booking utility, weak portfolio trust layer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4dccb"/>
                      </a:solidFill>
                      <a:prstDash val="solid"/>
                    </a:lnL>
                    <a:lnR w="9360">
                      <a:solidFill>
                        <a:srgbClr val="e4dccb"/>
                      </a:solidFill>
                      <a:prstDash val="solid"/>
                    </a:lnR>
                    <a:lnT w="9360">
                      <a:solidFill>
                        <a:srgbClr val="e4dccb"/>
                      </a:solidFill>
                      <a:prstDash val="solid"/>
                    </a:lnT>
                    <a:lnB w="9360">
                      <a:solidFill>
                        <a:srgbClr val="e4dc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c94a1a"/>
                          </a:solidFill>
                          <a:latin typeface="Calibri"/>
                          <a:ea typeface="Calibri"/>
                        </a:rPr>
                        <a:t>Portfolio-driven trust before booking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4dccb"/>
                      </a:solidFill>
                      <a:prstDash val="solid"/>
                    </a:lnL>
                    <a:lnR w="9360">
                      <a:solidFill>
                        <a:srgbClr val="e4dccb"/>
                      </a:solidFill>
                      <a:prstDash val="solid"/>
                    </a:lnR>
                    <a:lnT w="9360">
                      <a:solidFill>
                        <a:srgbClr val="e4dccb"/>
                      </a:solidFill>
                      <a:prstDash val="solid"/>
                    </a:lnT>
                    <a:lnB w="9360">
                      <a:solidFill>
                        <a:srgbClr val="e4dc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6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52d24"/>
                          </a:solidFill>
                          <a:latin typeface="Calibri"/>
                          <a:ea typeface="Calibri"/>
                        </a:rPr>
                        <a:t>GlossGenius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4dccb"/>
                      </a:solidFill>
                      <a:prstDash val="solid"/>
                    </a:lnL>
                    <a:lnR w="9360">
                      <a:solidFill>
                        <a:srgbClr val="e4dccb"/>
                      </a:solidFill>
                      <a:prstDash val="solid"/>
                    </a:lnR>
                    <a:lnT w="9360">
                      <a:solidFill>
                        <a:srgbClr val="e4dccb"/>
                      </a:solidFill>
                      <a:prstDash val="solid"/>
                    </a:lnT>
                    <a:lnB w="9360">
                      <a:solidFill>
                        <a:srgbClr val="e4dc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52d24"/>
                          </a:solidFill>
                          <a:latin typeface="Calibri"/>
                          <a:ea typeface="Calibri"/>
                        </a:rPr>
                        <a:t>Salon/MUA management tool focus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4dccb"/>
                      </a:solidFill>
                      <a:prstDash val="solid"/>
                    </a:lnL>
                    <a:lnR w="9360">
                      <a:solidFill>
                        <a:srgbClr val="e4dccb"/>
                      </a:solidFill>
                      <a:prstDash val="solid"/>
                    </a:lnR>
                    <a:lnT w="9360">
                      <a:solidFill>
                        <a:srgbClr val="e4dccb"/>
                      </a:solidFill>
                      <a:prstDash val="solid"/>
                    </a:lnT>
                    <a:lnB w="9360">
                      <a:solidFill>
                        <a:srgbClr val="e4dc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c94a1a"/>
                          </a:solidFill>
                          <a:latin typeface="Calibri"/>
                          <a:ea typeface="Calibri"/>
                        </a:rPr>
                        <a:t>Dual-sided value: booking + business tools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4dccb"/>
                      </a:solidFill>
                      <a:prstDash val="solid"/>
                    </a:lnL>
                    <a:lnR w="9360">
                      <a:solidFill>
                        <a:srgbClr val="e4dccb"/>
                      </a:solidFill>
                      <a:prstDash val="solid"/>
                    </a:lnR>
                    <a:lnT w="9360">
                      <a:solidFill>
                        <a:srgbClr val="e4dccb"/>
                      </a:solidFill>
                      <a:prstDash val="solid"/>
                    </a:lnT>
                    <a:lnB w="9360">
                      <a:solidFill>
                        <a:srgbClr val="e4dc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4" name="Shape 3"/>
          <p:cNvSpPr/>
          <p:nvPr/>
        </p:nvSpPr>
        <p:spPr>
          <a:xfrm>
            <a:off x="640080" y="3794760"/>
            <a:ext cx="456840" cy="456840"/>
          </a:xfrm>
          <a:prstGeom prst="ellipse">
            <a:avLst/>
          </a:prstGeom>
          <a:solidFill>
            <a:srgbClr val="b886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5" name="Image 0" descr="preencoded.png"/>
          <p:cNvPicPr/>
          <p:nvPr/>
        </p:nvPicPr>
        <p:blipFill>
          <a:blip r:embed="rId1"/>
          <a:stretch/>
        </p:blipFill>
        <p:spPr>
          <a:xfrm>
            <a:off x="699480" y="3854160"/>
            <a:ext cx="338040" cy="338040"/>
          </a:xfrm>
          <a:prstGeom prst="rect">
            <a:avLst/>
          </a:prstGeom>
          <a:ln w="0">
            <a:noFill/>
          </a:ln>
        </p:spPr>
      </p:pic>
      <p:sp>
        <p:nvSpPr>
          <p:cNvPr id="136" name="Text 4"/>
          <p:cNvSpPr/>
          <p:nvPr/>
        </p:nvSpPr>
        <p:spPr>
          <a:xfrm>
            <a:off x="1280160" y="3749040"/>
            <a:ext cx="2880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a1410"/>
                </a:solidFill>
                <a:latin typeface="Cambria"/>
                <a:ea typeface="Cambria"/>
              </a:rPr>
              <a:t>TikTok beauty discovery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5"/>
          <p:cNvSpPr/>
          <p:nvPr/>
        </p:nvSpPr>
        <p:spPr>
          <a:xfrm>
            <a:off x="640080" y="4343400"/>
            <a:ext cx="352008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4238"/>
                </a:solidFill>
                <a:latin typeface="Calibri"/>
                <a:ea typeface="Calibri"/>
              </a:rPr>
              <a:t>No major competitor owns booking-linked TikTok discovery — Leish can be first.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6"/>
          <p:cNvSpPr/>
          <p:nvPr/>
        </p:nvSpPr>
        <p:spPr>
          <a:xfrm>
            <a:off x="4325040" y="3794760"/>
            <a:ext cx="456840" cy="456840"/>
          </a:xfrm>
          <a:prstGeom prst="ellipse">
            <a:avLst/>
          </a:prstGeom>
          <a:solidFill>
            <a:srgbClr val="b886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9" name="Image 1" descr="preencoded.png"/>
          <p:cNvPicPr/>
          <p:nvPr/>
        </p:nvPicPr>
        <p:blipFill>
          <a:blip r:embed="rId2"/>
          <a:stretch/>
        </p:blipFill>
        <p:spPr>
          <a:xfrm>
            <a:off x="4384440" y="3854160"/>
            <a:ext cx="338040" cy="338040"/>
          </a:xfrm>
          <a:prstGeom prst="rect">
            <a:avLst/>
          </a:prstGeom>
          <a:ln w="0">
            <a:noFill/>
          </a:ln>
        </p:spPr>
      </p:pic>
      <p:sp>
        <p:nvSpPr>
          <p:cNvPr id="140" name="Text 7"/>
          <p:cNvSpPr/>
          <p:nvPr/>
        </p:nvSpPr>
        <p:spPr>
          <a:xfrm>
            <a:off x="4965120" y="3749040"/>
            <a:ext cx="2880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a1410"/>
                </a:solidFill>
                <a:latin typeface="Cambria"/>
                <a:ea typeface="Cambria"/>
              </a:rPr>
              <a:t>“</a:t>
            </a:r>
            <a:r>
              <a:rPr b="1" lang="en-US" sz="1250" spc="-1" strike="noStrike">
                <a:solidFill>
                  <a:srgbClr val="1a1410"/>
                </a:solidFill>
                <a:latin typeface="Cambria"/>
                <a:ea typeface="Cambria"/>
              </a:rPr>
              <a:t>MUA near me” intent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 8"/>
          <p:cNvSpPr/>
          <p:nvPr/>
        </p:nvSpPr>
        <p:spPr>
          <a:xfrm>
            <a:off x="4325040" y="4343400"/>
            <a:ext cx="352008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4238"/>
                </a:solidFill>
                <a:latin typeface="Calibri"/>
                <a:ea typeface="Calibri"/>
              </a:rPr>
              <a:t>High-intent, occasion-based search with weak marketplace competition today.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Shape 9"/>
          <p:cNvSpPr/>
          <p:nvPr/>
        </p:nvSpPr>
        <p:spPr>
          <a:xfrm>
            <a:off x="8010000" y="3794760"/>
            <a:ext cx="456840" cy="456840"/>
          </a:xfrm>
          <a:prstGeom prst="ellipse">
            <a:avLst/>
          </a:prstGeom>
          <a:solidFill>
            <a:srgbClr val="b886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3" name="Image 2" descr="preencoded.png"/>
          <p:cNvPicPr/>
          <p:nvPr/>
        </p:nvPicPr>
        <p:blipFill>
          <a:blip r:embed="rId3"/>
          <a:stretch/>
        </p:blipFill>
        <p:spPr>
          <a:xfrm>
            <a:off x="8069760" y="3854160"/>
            <a:ext cx="338040" cy="338040"/>
          </a:xfrm>
          <a:prstGeom prst="rect">
            <a:avLst/>
          </a:prstGeom>
          <a:ln w="0">
            <a:noFill/>
          </a:ln>
        </p:spPr>
      </p:pic>
      <p:sp>
        <p:nvSpPr>
          <p:cNvPr id="144" name="Text 10"/>
          <p:cNvSpPr/>
          <p:nvPr/>
        </p:nvSpPr>
        <p:spPr>
          <a:xfrm>
            <a:off x="8650080" y="3749040"/>
            <a:ext cx="2880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a1410"/>
                </a:solidFill>
                <a:latin typeface="Cambria"/>
                <a:ea typeface="Cambria"/>
              </a:rPr>
              <a:t>Micro-occasion targeting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11"/>
          <p:cNvSpPr/>
          <p:nvPr/>
        </p:nvSpPr>
        <p:spPr>
          <a:xfrm>
            <a:off x="8010000" y="4343400"/>
            <a:ext cx="352008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4238"/>
                </a:solidFill>
                <a:latin typeface="Calibri"/>
                <a:ea typeface="Calibri"/>
              </a:rPr>
              <a:t>Graduation, birthdays, content shoots — largely ignored by wedding-only rivals.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 0"/>
          <p:cNvSpPr/>
          <p:nvPr/>
        </p:nvSpPr>
        <p:spPr>
          <a:xfrm>
            <a:off x="457200" y="2926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199" strike="noStrike">
                <a:solidFill>
                  <a:srgbClr val="8a7e6e"/>
                </a:solidFill>
                <a:latin typeface="Calibri"/>
                <a:ea typeface="Calibri"/>
              </a:rPr>
              <a:t>GO-TO-MARKET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1"/>
          <p:cNvSpPr/>
          <p:nvPr/>
        </p:nvSpPr>
        <p:spPr>
          <a:xfrm>
            <a:off x="8991360" y="2926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8ada0"/>
                </a:solidFill>
                <a:latin typeface="Calibri"/>
                <a:ea typeface="Calibri"/>
              </a:rPr>
              <a:t>LEISH  ·  08 / 14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2"/>
          <p:cNvSpPr/>
          <p:nvPr/>
        </p:nvSpPr>
        <p:spPr>
          <a:xfrm>
            <a:off x="640080" y="777240"/>
            <a:ext cx="107895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a1410"/>
                </a:solidFill>
                <a:latin typeface="Cambria"/>
                <a:ea typeface="Cambria"/>
              </a:rPr>
              <a:t>Launch-First, TikTok-Native Growth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3"/>
          <p:cNvSpPr/>
          <p:nvPr/>
        </p:nvSpPr>
        <p:spPr>
          <a:xfrm>
            <a:off x="640080" y="1737360"/>
            <a:ext cx="3520080" cy="2331360"/>
          </a:xfrm>
          <a:prstGeom prst="roundRect">
            <a:avLst>
              <a:gd name="adj" fmla="val 3137"/>
            </a:avLst>
          </a:prstGeom>
          <a:solidFill>
            <a:srgbClr val="f5f0e8"/>
          </a:solidFill>
          <a:ln w="9525">
            <a:solidFill>
              <a:srgbClr val="e4dccb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 4"/>
          <p:cNvSpPr/>
          <p:nvPr/>
        </p:nvSpPr>
        <p:spPr>
          <a:xfrm>
            <a:off x="841320" y="1874520"/>
            <a:ext cx="10969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e4dccb"/>
                </a:solidFill>
                <a:latin typeface="Cambria"/>
                <a:ea typeface="Cambria"/>
              </a:rPr>
              <a:t>01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5"/>
          <p:cNvSpPr/>
          <p:nvPr/>
        </p:nvSpPr>
        <p:spPr>
          <a:xfrm>
            <a:off x="841320" y="2450520"/>
            <a:ext cx="3117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48" strike="noStrike">
                <a:solidFill>
                  <a:srgbClr val="c94a1a"/>
                </a:solidFill>
                <a:latin typeface="Calibri"/>
                <a:ea typeface="Calibri"/>
              </a:rPr>
              <a:t>DAYS 1–30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6"/>
          <p:cNvSpPr/>
          <p:nvPr/>
        </p:nvSpPr>
        <p:spPr>
          <a:xfrm>
            <a:off x="841320" y="2697480"/>
            <a:ext cx="3117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1a1410"/>
                </a:solidFill>
                <a:latin typeface="Cambria"/>
                <a:ea typeface="Cambria"/>
              </a:rPr>
              <a:t>Awareness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7"/>
          <p:cNvSpPr/>
          <p:nvPr/>
        </p:nvSpPr>
        <p:spPr>
          <a:xfrm>
            <a:off x="841320" y="3108960"/>
            <a:ext cx="31176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4a4238"/>
                </a:solidFill>
                <a:latin typeface="Calibri"/>
                <a:ea typeface="Calibri"/>
              </a:rPr>
              <a:t>3x/week TikTok &amp; Reels of real MUA transformations tagged “Found on Leish.” “Book Your Glow” challenge.</a:t>
            </a:r>
            <a:endParaRPr b="0" lang="en-U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8"/>
          <p:cNvSpPr/>
          <p:nvPr/>
        </p:nvSpPr>
        <p:spPr>
          <a:xfrm>
            <a:off x="4343400" y="1737360"/>
            <a:ext cx="3520080" cy="2331360"/>
          </a:xfrm>
          <a:prstGeom prst="roundRect">
            <a:avLst>
              <a:gd name="adj" fmla="val 3137"/>
            </a:avLst>
          </a:prstGeom>
          <a:solidFill>
            <a:srgbClr val="f5f0e8"/>
          </a:solidFill>
          <a:ln w="9525">
            <a:solidFill>
              <a:srgbClr val="e4dccb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9"/>
          <p:cNvSpPr/>
          <p:nvPr/>
        </p:nvSpPr>
        <p:spPr>
          <a:xfrm>
            <a:off x="4544640" y="1874520"/>
            <a:ext cx="10969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e4dccb"/>
                </a:solidFill>
                <a:latin typeface="Cambria"/>
                <a:ea typeface="Cambria"/>
              </a:rPr>
              <a:t>02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10"/>
          <p:cNvSpPr/>
          <p:nvPr/>
        </p:nvSpPr>
        <p:spPr>
          <a:xfrm>
            <a:off x="4544640" y="2450520"/>
            <a:ext cx="3117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48" strike="noStrike">
                <a:solidFill>
                  <a:srgbClr val="c94a1a"/>
                </a:solidFill>
                <a:latin typeface="Calibri"/>
                <a:ea typeface="Calibri"/>
              </a:rPr>
              <a:t>DAYS 31–60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11"/>
          <p:cNvSpPr/>
          <p:nvPr/>
        </p:nvSpPr>
        <p:spPr>
          <a:xfrm>
            <a:off x="4544640" y="2697480"/>
            <a:ext cx="3117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1a1410"/>
                </a:solidFill>
                <a:latin typeface="Cambria"/>
                <a:ea typeface="Cambria"/>
              </a:rPr>
              <a:t>Consideration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12"/>
          <p:cNvSpPr/>
          <p:nvPr/>
        </p:nvSpPr>
        <p:spPr>
          <a:xfrm>
            <a:off x="4544640" y="3108960"/>
            <a:ext cx="31176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4a4238"/>
                </a:solidFill>
                <a:latin typeface="Calibri"/>
                <a:ea typeface="Calibri"/>
              </a:rPr>
              <a:t>“</a:t>
            </a:r>
            <a:r>
              <a:rPr b="0" lang="en-US" sz="1080" spc="-1" strike="noStrike">
                <a:solidFill>
                  <a:srgbClr val="4a4238"/>
                </a:solidFill>
                <a:latin typeface="Calibri"/>
                <a:ea typeface="Calibri"/>
              </a:rPr>
              <a:t>Leish Verified” badge concept, behind-the-scenes vetting content, RM200–300 targeted Meta ads.</a:t>
            </a:r>
            <a:endParaRPr b="0" lang="en-U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13"/>
          <p:cNvSpPr/>
          <p:nvPr/>
        </p:nvSpPr>
        <p:spPr>
          <a:xfrm>
            <a:off x="8046720" y="1737360"/>
            <a:ext cx="3520080" cy="2331360"/>
          </a:xfrm>
          <a:prstGeom prst="roundRect">
            <a:avLst>
              <a:gd name="adj" fmla="val 3137"/>
            </a:avLst>
          </a:prstGeom>
          <a:solidFill>
            <a:srgbClr val="f5f0e8"/>
          </a:solidFill>
          <a:ln w="9525">
            <a:solidFill>
              <a:srgbClr val="e4dccb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14"/>
          <p:cNvSpPr/>
          <p:nvPr/>
        </p:nvSpPr>
        <p:spPr>
          <a:xfrm>
            <a:off x="8247960" y="1874520"/>
            <a:ext cx="10969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e4dccb"/>
                </a:solidFill>
                <a:latin typeface="Cambria"/>
                <a:ea typeface="Cambria"/>
              </a:rPr>
              <a:t>03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 15"/>
          <p:cNvSpPr/>
          <p:nvPr/>
        </p:nvSpPr>
        <p:spPr>
          <a:xfrm>
            <a:off x="8247960" y="2450520"/>
            <a:ext cx="3117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48" strike="noStrike">
                <a:solidFill>
                  <a:srgbClr val="c94a1a"/>
                </a:solidFill>
                <a:latin typeface="Calibri"/>
                <a:ea typeface="Calibri"/>
              </a:rPr>
              <a:t>DAYS 61–90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16"/>
          <p:cNvSpPr/>
          <p:nvPr/>
        </p:nvSpPr>
        <p:spPr>
          <a:xfrm>
            <a:off x="8247960" y="2697480"/>
            <a:ext cx="3117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1a1410"/>
                </a:solidFill>
                <a:latin typeface="Cambria"/>
                <a:ea typeface="Cambria"/>
              </a:rPr>
              <a:t>Conversion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17"/>
          <p:cNvSpPr/>
          <p:nvPr/>
        </p:nvSpPr>
        <p:spPr>
          <a:xfrm>
            <a:off x="8247960" y="3108960"/>
            <a:ext cx="31176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4a4238"/>
                </a:solidFill>
                <a:latin typeface="Calibri"/>
                <a:ea typeface="Calibri"/>
              </a:rPr>
              <a:t>First Booking Discount, retargeting, and a referral loop for every client who brings a friend.</a:t>
            </a:r>
            <a:endParaRPr b="0" lang="en-U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18"/>
          <p:cNvSpPr/>
          <p:nvPr/>
        </p:nvSpPr>
        <p:spPr>
          <a:xfrm>
            <a:off x="640080" y="434340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a1410"/>
                </a:solidFill>
                <a:latin typeface="Cambria"/>
                <a:ea typeface="Cambria"/>
              </a:rPr>
              <a:t>90-Day Targets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65" name="Table 0"/>
          <p:cNvGraphicFramePr/>
          <p:nvPr/>
        </p:nvGraphicFramePr>
        <p:xfrm>
          <a:off x="640080" y="4754880"/>
          <a:ext cx="10881000" cy="1645560"/>
        </p:xfrm>
        <a:graphic>
          <a:graphicData uri="http://schemas.openxmlformats.org/drawingml/2006/table">
            <a:tbl>
              <a:tblPr/>
              <a:tblGrid>
                <a:gridCol w="3566160"/>
                <a:gridCol w="2441160"/>
                <a:gridCol w="2441160"/>
                <a:gridCol w="2432160"/>
              </a:tblGrid>
              <a:tr h="3290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Milestone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4dccb"/>
                      </a:solidFill>
                      <a:prstDash val="solid"/>
                    </a:lnL>
                    <a:lnR w="9360">
                      <a:solidFill>
                        <a:srgbClr val="e4dccb"/>
                      </a:solidFill>
                      <a:prstDash val="solid"/>
                    </a:lnR>
                    <a:lnT w="9360">
                      <a:solidFill>
                        <a:srgbClr val="e4dccb"/>
                      </a:solidFill>
                      <a:prstDash val="solid"/>
                    </a:lnT>
                    <a:lnB w="9360">
                      <a:solidFill>
                        <a:srgbClr val="e4dccb"/>
                      </a:solidFill>
                      <a:prstDash val="solid"/>
                    </a:lnB>
                    <a:solidFill>
                      <a:srgbClr val="1a141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30 Days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4dccb"/>
                      </a:solidFill>
                      <a:prstDash val="solid"/>
                    </a:lnL>
                    <a:lnR w="9360">
                      <a:solidFill>
                        <a:srgbClr val="e4dccb"/>
                      </a:solidFill>
                      <a:prstDash val="solid"/>
                    </a:lnR>
                    <a:lnT w="9360">
                      <a:solidFill>
                        <a:srgbClr val="e4dccb"/>
                      </a:solidFill>
                      <a:prstDash val="solid"/>
                    </a:lnT>
                    <a:lnB w="9360">
                      <a:solidFill>
                        <a:srgbClr val="e4dccb"/>
                      </a:solidFill>
                      <a:prstDash val="solid"/>
                    </a:lnB>
                    <a:solidFill>
                      <a:srgbClr val="1a141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60 Days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4dccb"/>
                      </a:solidFill>
                      <a:prstDash val="solid"/>
                    </a:lnL>
                    <a:lnR w="9360">
                      <a:solidFill>
                        <a:srgbClr val="e4dccb"/>
                      </a:solidFill>
                      <a:prstDash val="solid"/>
                    </a:lnR>
                    <a:lnT w="9360">
                      <a:solidFill>
                        <a:srgbClr val="e4dccb"/>
                      </a:solidFill>
                      <a:prstDash val="solid"/>
                    </a:lnT>
                    <a:lnB w="9360">
                      <a:solidFill>
                        <a:srgbClr val="e4dccb"/>
                      </a:solidFill>
                      <a:prstDash val="solid"/>
                    </a:lnB>
                    <a:solidFill>
                      <a:srgbClr val="1a141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90 Days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4dccb"/>
                      </a:solidFill>
                      <a:prstDash val="solid"/>
                    </a:lnL>
                    <a:lnR w="9360">
                      <a:solidFill>
                        <a:srgbClr val="e4dccb"/>
                      </a:solidFill>
                      <a:prstDash val="solid"/>
                    </a:lnR>
                    <a:lnT w="9360">
                      <a:solidFill>
                        <a:srgbClr val="e4dccb"/>
                      </a:solidFill>
                      <a:prstDash val="solid"/>
                    </a:lnT>
                    <a:lnB w="9360">
                      <a:solidFill>
                        <a:srgbClr val="e4dccb"/>
                      </a:solidFill>
                      <a:prstDash val="solid"/>
                    </a:lnB>
                    <a:solidFill>
                      <a:srgbClr val="1a1410"/>
                    </a:solidFill>
                  </a:tcPr>
                </a:tc>
              </a:tr>
              <a:tr h="3290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52d24"/>
                          </a:solidFill>
                          <a:latin typeface="Calibri"/>
                          <a:ea typeface="Calibri"/>
                        </a:rPr>
                        <a:t>MUA Listings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4dccb"/>
                      </a:solidFill>
                      <a:prstDash val="solid"/>
                    </a:lnL>
                    <a:lnR w="9360">
                      <a:solidFill>
                        <a:srgbClr val="e4dccb"/>
                      </a:solidFill>
                      <a:prstDash val="solid"/>
                    </a:lnR>
                    <a:lnT w="9360">
                      <a:solidFill>
                        <a:srgbClr val="e4dccb"/>
                      </a:solidFill>
                      <a:prstDash val="solid"/>
                    </a:lnT>
                    <a:lnB w="9360">
                      <a:solidFill>
                        <a:srgbClr val="e4dc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c94a1a"/>
                          </a:solidFill>
                          <a:latin typeface="Calibri"/>
                          <a:ea typeface="Calibri"/>
                        </a:rPr>
                        <a:t>25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4dccb"/>
                      </a:solidFill>
                      <a:prstDash val="solid"/>
                    </a:lnL>
                    <a:lnR w="9360">
                      <a:solidFill>
                        <a:srgbClr val="e4dccb"/>
                      </a:solidFill>
                      <a:prstDash val="solid"/>
                    </a:lnR>
                    <a:lnT w="9360">
                      <a:solidFill>
                        <a:srgbClr val="e4dccb"/>
                      </a:solidFill>
                      <a:prstDash val="solid"/>
                    </a:lnT>
                    <a:lnB w="9360">
                      <a:solidFill>
                        <a:srgbClr val="e4dc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c94a1a"/>
                          </a:solidFill>
                          <a:latin typeface="Calibri"/>
                          <a:ea typeface="Calibri"/>
                        </a:rPr>
                        <a:t>75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4dccb"/>
                      </a:solidFill>
                      <a:prstDash val="solid"/>
                    </a:lnL>
                    <a:lnR w="9360">
                      <a:solidFill>
                        <a:srgbClr val="e4dccb"/>
                      </a:solidFill>
                      <a:prstDash val="solid"/>
                    </a:lnR>
                    <a:lnT w="9360">
                      <a:solidFill>
                        <a:srgbClr val="e4dccb"/>
                      </a:solidFill>
                      <a:prstDash val="solid"/>
                    </a:lnT>
                    <a:lnB w="9360">
                      <a:solidFill>
                        <a:srgbClr val="e4dc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c94a1a"/>
                          </a:solidFill>
                          <a:latin typeface="Calibri"/>
                          <a:ea typeface="Calibri"/>
                        </a:rPr>
                        <a:t>150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4dccb"/>
                      </a:solidFill>
                      <a:prstDash val="solid"/>
                    </a:lnL>
                    <a:lnR w="9360">
                      <a:solidFill>
                        <a:srgbClr val="e4dccb"/>
                      </a:solidFill>
                      <a:prstDash val="solid"/>
                    </a:lnR>
                    <a:lnT w="9360">
                      <a:solidFill>
                        <a:srgbClr val="e4dccb"/>
                      </a:solidFill>
                      <a:prstDash val="solid"/>
                    </a:lnT>
                    <a:lnB w="9360">
                      <a:solidFill>
                        <a:srgbClr val="e4dc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0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52d24"/>
                          </a:solidFill>
                          <a:latin typeface="Calibri"/>
                          <a:ea typeface="Calibri"/>
                        </a:rPr>
                        <a:t>Client Bookings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4dccb"/>
                      </a:solidFill>
                      <a:prstDash val="solid"/>
                    </a:lnL>
                    <a:lnR w="9360">
                      <a:solidFill>
                        <a:srgbClr val="e4dccb"/>
                      </a:solidFill>
                      <a:prstDash val="solid"/>
                    </a:lnR>
                    <a:lnT w="9360">
                      <a:solidFill>
                        <a:srgbClr val="e4dccb"/>
                      </a:solidFill>
                      <a:prstDash val="solid"/>
                    </a:lnT>
                    <a:lnB w="9360">
                      <a:solidFill>
                        <a:srgbClr val="e4dc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c94a1a"/>
                          </a:solidFill>
                          <a:latin typeface="Calibri"/>
                          <a:ea typeface="Calibri"/>
                        </a:rPr>
                        <a:t>10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4dccb"/>
                      </a:solidFill>
                      <a:prstDash val="solid"/>
                    </a:lnL>
                    <a:lnR w="9360">
                      <a:solidFill>
                        <a:srgbClr val="e4dccb"/>
                      </a:solidFill>
                      <a:prstDash val="solid"/>
                    </a:lnR>
                    <a:lnT w="9360">
                      <a:solidFill>
                        <a:srgbClr val="e4dccb"/>
                      </a:solidFill>
                      <a:prstDash val="solid"/>
                    </a:lnT>
                    <a:lnB w="9360">
                      <a:solidFill>
                        <a:srgbClr val="e4dc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c94a1a"/>
                          </a:solidFill>
                          <a:latin typeface="Calibri"/>
                          <a:ea typeface="Calibri"/>
                        </a:rPr>
                        <a:t>40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4dccb"/>
                      </a:solidFill>
                      <a:prstDash val="solid"/>
                    </a:lnL>
                    <a:lnR w="9360">
                      <a:solidFill>
                        <a:srgbClr val="e4dccb"/>
                      </a:solidFill>
                      <a:prstDash val="solid"/>
                    </a:lnR>
                    <a:lnT w="9360">
                      <a:solidFill>
                        <a:srgbClr val="e4dccb"/>
                      </a:solidFill>
                      <a:prstDash val="solid"/>
                    </a:lnT>
                    <a:lnB w="9360">
                      <a:solidFill>
                        <a:srgbClr val="e4dc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c94a1a"/>
                          </a:solidFill>
                          <a:latin typeface="Calibri"/>
                          <a:ea typeface="Calibri"/>
                        </a:rPr>
                        <a:t>100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4dccb"/>
                      </a:solidFill>
                      <a:prstDash val="solid"/>
                    </a:lnL>
                    <a:lnR w="9360">
                      <a:solidFill>
                        <a:srgbClr val="e4dccb"/>
                      </a:solidFill>
                      <a:prstDash val="solid"/>
                    </a:lnR>
                    <a:lnT w="9360">
                      <a:solidFill>
                        <a:srgbClr val="e4dccb"/>
                      </a:solidFill>
                      <a:prstDash val="solid"/>
                    </a:lnT>
                    <a:lnB w="9360">
                      <a:solidFill>
                        <a:srgbClr val="e4dc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0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52d24"/>
                          </a:solidFill>
                          <a:latin typeface="Calibri"/>
                          <a:ea typeface="Calibri"/>
                        </a:rPr>
                        <a:t>Social Followers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4dccb"/>
                      </a:solidFill>
                      <a:prstDash val="solid"/>
                    </a:lnL>
                    <a:lnR w="9360">
                      <a:solidFill>
                        <a:srgbClr val="e4dccb"/>
                      </a:solidFill>
                      <a:prstDash val="solid"/>
                    </a:lnR>
                    <a:lnT w="9360">
                      <a:solidFill>
                        <a:srgbClr val="e4dccb"/>
                      </a:solidFill>
                      <a:prstDash val="solid"/>
                    </a:lnT>
                    <a:lnB w="9360">
                      <a:solidFill>
                        <a:srgbClr val="e4dc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c94a1a"/>
                          </a:solidFill>
                          <a:latin typeface="Calibri"/>
                          <a:ea typeface="Calibri"/>
                        </a:rPr>
                        <a:t>500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4dccb"/>
                      </a:solidFill>
                      <a:prstDash val="solid"/>
                    </a:lnL>
                    <a:lnR w="9360">
                      <a:solidFill>
                        <a:srgbClr val="e4dccb"/>
                      </a:solidFill>
                      <a:prstDash val="solid"/>
                    </a:lnR>
                    <a:lnT w="9360">
                      <a:solidFill>
                        <a:srgbClr val="e4dccb"/>
                      </a:solidFill>
                      <a:prstDash val="solid"/>
                    </a:lnT>
                    <a:lnB w="9360">
                      <a:solidFill>
                        <a:srgbClr val="e4dc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c94a1a"/>
                          </a:solidFill>
                          <a:latin typeface="Calibri"/>
                          <a:ea typeface="Calibri"/>
                        </a:rPr>
                        <a:t>1,500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4dccb"/>
                      </a:solidFill>
                      <a:prstDash val="solid"/>
                    </a:lnL>
                    <a:lnR w="9360">
                      <a:solidFill>
                        <a:srgbClr val="e4dccb"/>
                      </a:solidFill>
                      <a:prstDash val="solid"/>
                    </a:lnR>
                    <a:lnT w="9360">
                      <a:solidFill>
                        <a:srgbClr val="e4dccb"/>
                      </a:solidFill>
                      <a:prstDash val="solid"/>
                    </a:lnT>
                    <a:lnB w="9360">
                      <a:solidFill>
                        <a:srgbClr val="e4dc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c94a1a"/>
                          </a:solidFill>
                          <a:latin typeface="Calibri"/>
                          <a:ea typeface="Calibri"/>
                        </a:rPr>
                        <a:t>3,500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4dccb"/>
                      </a:solidFill>
                      <a:prstDash val="solid"/>
                    </a:lnL>
                    <a:lnR w="9360">
                      <a:solidFill>
                        <a:srgbClr val="e4dccb"/>
                      </a:solidFill>
                      <a:prstDash val="solid"/>
                    </a:lnR>
                    <a:lnT w="9360">
                      <a:solidFill>
                        <a:srgbClr val="e4dccb"/>
                      </a:solidFill>
                      <a:prstDash val="solid"/>
                    </a:lnT>
                    <a:lnB w="9360">
                      <a:solidFill>
                        <a:srgbClr val="e4dc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0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52d24"/>
                          </a:solidFill>
                          <a:latin typeface="Calibri"/>
                          <a:ea typeface="Calibri"/>
                        </a:rPr>
                        <a:t>Website Visits / mo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4dccb"/>
                      </a:solidFill>
                      <a:prstDash val="solid"/>
                    </a:lnL>
                    <a:lnR w="9360">
                      <a:solidFill>
                        <a:srgbClr val="e4dccb"/>
                      </a:solidFill>
                      <a:prstDash val="solid"/>
                    </a:lnR>
                    <a:lnT w="9360">
                      <a:solidFill>
                        <a:srgbClr val="e4dccb"/>
                      </a:solidFill>
                      <a:prstDash val="solid"/>
                    </a:lnT>
                    <a:lnB w="9360">
                      <a:solidFill>
                        <a:srgbClr val="e4dc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c94a1a"/>
                          </a:solidFill>
                          <a:latin typeface="Calibri"/>
                          <a:ea typeface="Calibri"/>
                        </a:rPr>
                        <a:t>500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4dccb"/>
                      </a:solidFill>
                      <a:prstDash val="solid"/>
                    </a:lnL>
                    <a:lnR w="9360">
                      <a:solidFill>
                        <a:srgbClr val="e4dccb"/>
                      </a:solidFill>
                      <a:prstDash val="solid"/>
                    </a:lnR>
                    <a:lnT w="9360">
                      <a:solidFill>
                        <a:srgbClr val="e4dccb"/>
                      </a:solidFill>
                      <a:prstDash val="solid"/>
                    </a:lnT>
                    <a:lnB w="9360">
                      <a:solidFill>
                        <a:srgbClr val="e4dc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c94a1a"/>
                          </a:solidFill>
                          <a:latin typeface="Calibri"/>
                          <a:ea typeface="Calibri"/>
                        </a:rPr>
                        <a:t>1,500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4dccb"/>
                      </a:solidFill>
                      <a:prstDash val="solid"/>
                    </a:lnL>
                    <a:lnR w="9360">
                      <a:solidFill>
                        <a:srgbClr val="e4dccb"/>
                      </a:solidFill>
                      <a:prstDash val="solid"/>
                    </a:lnR>
                    <a:lnT w="9360">
                      <a:solidFill>
                        <a:srgbClr val="e4dccb"/>
                      </a:solidFill>
                      <a:prstDash val="solid"/>
                    </a:lnT>
                    <a:lnB w="9360">
                      <a:solidFill>
                        <a:srgbClr val="e4dc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c94a1a"/>
                          </a:solidFill>
                          <a:latin typeface="Calibri"/>
                          <a:ea typeface="Calibri"/>
                        </a:rPr>
                        <a:t>3,000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4dccb"/>
                      </a:solidFill>
                      <a:prstDash val="solid"/>
                    </a:lnL>
                    <a:lnR w="9360">
                      <a:solidFill>
                        <a:srgbClr val="e4dccb"/>
                      </a:solidFill>
                      <a:prstDash val="solid"/>
                    </a:lnR>
                    <a:lnT w="9360">
                      <a:solidFill>
                        <a:srgbClr val="e4dccb"/>
                      </a:solidFill>
                      <a:prstDash val="solid"/>
                    </a:lnT>
                    <a:lnB w="9360">
                      <a:solidFill>
                        <a:srgbClr val="e4dc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ext 0"/>
          <p:cNvSpPr/>
          <p:nvPr/>
        </p:nvSpPr>
        <p:spPr>
          <a:xfrm>
            <a:off x="457200" y="2926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199" strike="noStrike">
                <a:solidFill>
                  <a:srgbClr val="8a7e6e"/>
                </a:solidFill>
                <a:latin typeface="Calibri"/>
                <a:ea typeface="Calibri"/>
              </a:rPr>
              <a:t>FINANCIAL PROJECTIONS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 1"/>
          <p:cNvSpPr/>
          <p:nvPr/>
        </p:nvSpPr>
        <p:spPr>
          <a:xfrm>
            <a:off x="8991360" y="2926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8ada0"/>
                </a:solidFill>
                <a:latin typeface="Calibri"/>
                <a:ea typeface="Calibri"/>
              </a:rPr>
              <a:t>LEISH  ·  09 / 14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2"/>
          <p:cNvSpPr/>
          <p:nvPr/>
        </p:nvSpPr>
        <p:spPr>
          <a:xfrm>
            <a:off x="640080" y="777240"/>
            <a:ext cx="107895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a1410"/>
                </a:solidFill>
                <a:latin typeface="Cambria"/>
                <a:ea typeface="Cambria"/>
              </a:rPr>
              <a:t>Path to Profitability — 3-Year Forecast (MYR)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69" name="Table 0"/>
          <p:cNvGraphicFramePr/>
          <p:nvPr/>
        </p:nvGraphicFramePr>
        <p:xfrm>
          <a:off x="640080" y="1737360"/>
          <a:ext cx="10881000" cy="3785400"/>
        </p:xfrm>
        <a:graphic>
          <a:graphicData uri="http://schemas.openxmlformats.org/drawingml/2006/table">
            <a:tbl>
              <a:tblPr/>
              <a:tblGrid>
                <a:gridCol w="3749040"/>
                <a:gridCol w="2377440"/>
                <a:gridCol w="2377440"/>
                <a:gridCol w="2377440"/>
              </a:tblGrid>
              <a:tr h="4204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Line Item</a:t>
                      </a:r>
                      <a:endParaRPr b="0" lang="en-US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4dccb"/>
                      </a:solidFill>
                      <a:prstDash val="solid"/>
                    </a:lnL>
                    <a:lnR w="9360">
                      <a:solidFill>
                        <a:srgbClr val="e4dccb"/>
                      </a:solidFill>
                      <a:prstDash val="solid"/>
                    </a:lnR>
                    <a:lnT w="9360">
                      <a:solidFill>
                        <a:srgbClr val="e4dccb"/>
                      </a:solidFill>
                      <a:prstDash val="solid"/>
                    </a:lnT>
                    <a:lnB w="9360">
                      <a:solidFill>
                        <a:srgbClr val="e4dccb"/>
                      </a:solidFill>
                      <a:prstDash val="solid"/>
                    </a:lnB>
                    <a:solidFill>
                      <a:srgbClr val="1a141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Year 1</a:t>
                      </a:r>
                      <a:endParaRPr b="0" lang="en-US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4dccb"/>
                      </a:solidFill>
                      <a:prstDash val="solid"/>
                    </a:lnL>
                    <a:lnR w="9360">
                      <a:solidFill>
                        <a:srgbClr val="e4dccb"/>
                      </a:solidFill>
                      <a:prstDash val="solid"/>
                    </a:lnR>
                    <a:lnT w="9360">
                      <a:solidFill>
                        <a:srgbClr val="e4dccb"/>
                      </a:solidFill>
                      <a:prstDash val="solid"/>
                    </a:lnT>
                    <a:lnB w="9360">
                      <a:solidFill>
                        <a:srgbClr val="e4dccb"/>
                      </a:solidFill>
                      <a:prstDash val="solid"/>
                    </a:lnB>
                    <a:solidFill>
                      <a:srgbClr val="1a141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Year 2</a:t>
                      </a:r>
                      <a:endParaRPr b="0" lang="en-US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4dccb"/>
                      </a:solidFill>
                      <a:prstDash val="solid"/>
                    </a:lnL>
                    <a:lnR w="9360">
                      <a:solidFill>
                        <a:srgbClr val="e4dccb"/>
                      </a:solidFill>
                      <a:prstDash val="solid"/>
                    </a:lnR>
                    <a:lnT w="9360">
                      <a:solidFill>
                        <a:srgbClr val="e4dccb"/>
                      </a:solidFill>
                      <a:prstDash val="solid"/>
                    </a:lnT>
                    <a:lnB w="9360">
                      <a:solidFill>
                        <a:srgbClr val="e4dccb"/>
                      </a:solidFill>
                      <a:prstDash val="solid"/>
                    </a:lnB>
                    <a:solidFill>
                      <a:srgbClr val="1a141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Year 3</a:t>
                      </a:r>
                      <a:endParaRPr b="0" lang="en-US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4dccb"/>
                      </a:solidFill>
                      <a:prstDash val="solid"/>
                    </a:lnL>
                    <a:lnR w="9360">
                      <a:solidFill>
                        <a:srgbClr val="e4dccb"/>
                      </a:solidFill>
                      <a:prstDash val="solid"/>
                    </a:lnR>
                    <a:lnT w="9360">
                      <a:solidFill>
                        <a:srgbClr val="e4dccb"/>
                      </a:solidFill>
                      <a:prstDash val="solid"/>
                    </a:lnT>
                    <a:lnB w="9360">
                      <a:solidFill>
                        <a:srgbClr val="e4dccb"/>
                      </a:solidFill>
                      <a:prstDash val="solid"/>
                    </a:lnB>
                    <a:solidFill>
                      <a:srgbClr val="1a1410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352d24"/>
                          </a:solidFill>
                          <a:latin typeface="Calibri"/>
                          <a:ea typeface="Calibri"/>
                        </a:rPr>
                        <a:t>Total Revenue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4dccb"/>
                      </a:solidFill>
                      <a:prstDash val="solid"/>
                    </a:lnL>
                    <a:lnR w="9360">
                      <a:solidFill>
                        <a:srgbClr val="e4dccb"/>
                      </a:solidFill>
                      <a:prstDash val="solid"/>
                    </a:lnR>
                    <a:lnT w="9360">
                      <a:solidFill>
                        <a:srgbClr val="e4dccb"/>
                      </a:solidFill>
                      <a:prstDash val="solid"/>
                    </a:lnT>
                    <a:lnB w="9360">
                      <a:solidFill>
                        <a:srgbClr val="e4dccb"/>
                      </a:solidFill>
                      <a:prstDash val="soli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352d24"/>
                          </a:solidFill>
                          <a:latin typeface="Calibri"/>
                          <a:ea typeface="Calibri"/>
                        </a:rPr>
                        <a:t>RM 149,414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4dccb"/>
                      </a:solidFill>
                      <a:prstDash val="solid"/>
                    </a:lnL>
                    <a:lnR w="9360">
                      <a:solidFill>
                        <a:srgbClr val="e4dccb"/>
                      </a:solidFill>
                      <a:prstDash val="solid"/>
                    </a:lnR>
                    <a:lnT w="9360">
                      <a:solidFill>
                        <a:srgbClr val="e4dccb"/>
                      </a:solidFill>
                      <a:prstDash val="solid"/>
                    </a:lnT>
                    <a:lnB w="9360">
                      <a:solidFill>
                        <a:srgbClr val="e4dccb"/>
                      </a:solidFill>
                      <a:prstDash val="soli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352d24"/>
                          </a:solidFill>
                          <a:latin typeface="Calibri"/>
                          <a:ea typeface="Calibri"/>
                        </a:rPr>
                        <a:t>RM 713,509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4dccb"/>
                      </a:solidFill>
                      <a:prstDash val="solid"/>
                    </a:lnL>
                    <a:lnR w="9360">
                      <a:solidFill>
                        <a:srgbClr val="e4dccb"/>
                      </a:solidFill>
                      <a:prstDash val="solid"/>
                    </a:lnR>
                    <a:lnT w="9360">
                      <a:solidFill>
                        <a:srgbClr val="e4dccb"/>
                      </a:solidFill>
                      <a:prstDash val="solid"/>
                    </a:lnT>
                    <a:lnB w="9360">
                      <a:solidFill>
                        <a:srgbClr val="e4dccb"/>
                      </a:solidFill>
                      <a:prstDash val="soli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352d24"/>
                          </a:solidFill>
                          <a:latin typeface="Calibri"/>
                          <a:ea typeface="Calibri"/>
                        </a:rPr>
                        <a:t>RM 1,892,072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4dccb"/>
                      </a:solidFill>
                      <a:prstDash val="solid"/>
                    </a:lnL>
                    <a:lnR w="9360">
                      <a:solidFill>
                        <a:srgbClr val="e4dccb"/>
                      </a:solidFill>
                      <a:prstDash val="solid"/>
                    </a:lnR>
                    <a:lnT w="9360">
                      <a:solidFill>
                        <a:srgbClr val="e4dccb"/>
                      </a:solidFill>
                      <a:prstDash val="solid"/>
                    </a:lnT>
                    <a:lnB w="9360">
                      <a:solidFill>
                        <a:srgbClr val="e4dccb"/>
                      </a:solidFill>
                      <a:prstDash val="solid"/>
                    </a:lnB>
                    <a:solidFill>
                      <a:srgbClr val="f5f0e8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352d24"/>
                          </a:solidFill>
                          <a:latin typeface="Calibri"/>
                          <a:ea typeface="Calibri"/>
                        </a:rPr>
                        <a:t>Gross Profit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4dccb"/>
                      </a:solidFill>
                      <a:prstDash val="solid"/>
                    </a:lnL>
                    <a:lnR w="9360">
                      <a:solidFill>
                        <a:srgbClr val="e4dccb"/>
                      </a:solidFill>
                      <a:prstDash val="solid"/>
                    </a:lnR>
                    <a:lnT w="9360">
                      <a:solidFill>
                        <a:srgbClr val="e4dccb"/>
                      </a:solidFill>
                      <a:prstDash val="solid"/>
                    </a:lnT>
                    <a:lnB w="9360">
                      <a:solidFill>
                        <a:srgbClr val="e4dc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352d24"/>
                          </a:solidFill>
                          <a:latin typeface="Calibri"/>
                          <a:ea typeface="Calibri"/>
                        </a:rPr>
                        <a:t>RM 110,430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4dccb"/>
                      </a:solidFill>
                      <a:prstDash val="solid"/>
                    </a:lnL>
                    <a:lnR w="9360">
                      <a:solidFill>
                        <a:srgbClr val="e4dccb"/>
                      </a:solidFill>
                      <a:prstDash val="solid"/>
                    </a:lnR>
                    <a:lnT w="9360">
                      <a:solidFill>
                        <a:srgbClr val="e4dccb"/>
                      </a:solidFill>
                      <a:prstDash val="solid"/>
                    </a:lnT>
                    <a:lnB w="9360">
                      <a:solidFill>
                        <a:srgbClr val="e4dc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352d24"/>
                          </a:solidFill>
                          <a:latin typeface="Calibri"/>
                          <a:ea typeface="Calibri"/>
                        </a:rPr>
                        <a:t>RM 551,141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4dccb"/>
                      </a:solidFill>
                      <a:prstDash val="solid"/>
                    </a:lnL>
                    <a:lnR w="9360">
                      <a:solidFill>
                        <a:srgbClr val="e4dccb"/>
                      </a:solidFill>
                      <a:prstDash val="solid"/>
                    </a:lnR>
                    <a:lnT w="9360">
                      <a:solidFill>
                        <a:srgbClr val="e4dccb"/>
                      </a:solidFill>
                      <a:prstDash val="solid"/>
                    </a:lnT>
                    <a:lnB w="9360">
                      <a:solidFill>
                        <a:srgbClr val="e4dc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352d24"/>
                          </a:solidFill>
                          <a:latin typeface="Calibri"/>
                          <a:ea typeface="Calibri"/>
                        </a:rPr>
                        <a:t>RM 1,504,748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4dccb"/>
                      </a:solidFill>
                      <a:prstDash val="solid"/>
                    </a:lnL>
                    <a:lnR w="9360">
                      <a:solidFill>
                        <a:srgbClr val="e4dccb"/>
                      </a:solidFill>
                      <a:prstDash val="solid"/>
                    </a:lnR>
                    <a:lnT w="9360">
                      <a:solidFill>
                        <a:srgbClr val="e4dccb"/>
                      </a:solidFill>
                      <a:prstDash val="solid"/>
                    </a:lnT>
                    <a:lnB w="9360">
                      <a:solidFill>
                        <a:srgbClr val="e4dc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352d24"/>
                          </a:solidFill>
                          <a:latin typeface="Calibri"/>
                          <a:ea typeface="Calibri"/>
                        </a:rPr>
                        <a:t>Gross Margin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4dccb"/>
                      </a:solidFill>
                      <a:prstDash val="solid"/>
                    </a:lnL>
                    <a:lnR w="9360">
                      <a:solidFill>
                        <a:srgbClr val="e4dccb"/>
                      </a:solidFill>
                      <a:prstDash val="solid"/>
                    </a:lnR>
                    <a:lnT w="9360">
                      <a:solidFill>
                        <a:srgbClr val="e4dccb"/>
                      </a:solidFill>
                      <a:prstDash val="solid"/>
                    </a:lnT>
                    <a:lnB w="9360">
                      <a:solidFill>
                        <a:srgbClr val="e4dccb"/>
                      </a:solidFill>
                      <a:prstDash val="soli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352d24"/>
                          </a:solidFill>
                          <a:latin typeface="Calibri"/>
                          <a:ea typeface="Calibri"/>
                        </a:rPr>
                        <a:t>73.9%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4dccb"/>
                      </a:solidFill>
                      <a:prstDash val="solid"/>
                    </a:lnL>
                    <a:lnR w="9360">
                      <a:solidFill>
                        <a:srgbClr val="e4dccb"/>
                      </a:solidFill>
                      <a:prstDash val="solid"/>
                    </a:lnR>
                    <a:lnT w="9360">
                      <a:solidFill>
                        <a:srgbClr val="e4dccb"/>
                      </a:solidFill>
                      <a:prstDash val="solid"/>
                    </a:lnT>
                    <a:lnB w="9360">
                      <a:solidFill>
                        <a:srgbClr val="e4dccb"/>
                      </a:solidFill>
                      <a:prstDash val="soli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352d24"/>
                          </a:solidFill>
                          <a:latin typeface="Calibri"/>
                          <a:ea typeface="Calibri"/>
                        </a:rPr>
                        <a:t>77.2%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4dccb"/>
                      </a:solidFill>
                      <a:prstDash val="solid"/>
                    </a:lnL>
                    <a:lnR w="9360">
                      <a:solidFill>
                        <a:srgbClr val="e4dccb"/>
                      </a:solidFill>
                      <a:prstDash val="solid"/>
                    </a:lnR>
                    <a:lnT w="9360">
                      <a:solidFill>
                        <a:srgbClr val="e4dccb"/>
                      </a:solidFill>
                      <a:prstDash val="solid"/>
                    </a:lnT>
                    <a:lnB w="9360">
                      <a:solidFill>
                        <a:srgbClr val="e4dccb"/>
                      </a:solidFill>
                      <a:prstDash val="soli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352d24"/>
                          </a:solidFill>
                          <a:latin typeface="Calibri"/>
                          <a:ea typeface="Calibri"/>
                        </a:rPr>
                        <a:t>79.5%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4dccb"/>
                      </a:solidFill>
                      <a:prstDash val="solid"/>
                    </a:lnL>
                    <a:lnR w="9360">
                      <a:solidFill>
                        <a:srgbClr val="e4dccb"/>
                      </a:solidFill>
                      <a:prstDash val="solid"/>
                    </a:lnR>
                    <a:lnT w="9360">
                      <a:solidFill>
                        <a:srgbClr val="e4dccb"/>
                      </a:solidFill>
                      <a:prstDash val="solid"/>
                    </a:lnT>
                    <a:lnB w="9360">
                      <a:solidFill>
                        <a:srgbClr val="e4dccb"/>
                      </a:solidFill>
                      <a:prstDash val="solid"/>
                    </a:lnB>
                    <a:solidFill>
                      <a:srgbClr val="f5f0e8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352d24"/>
                          </a:solidFill>
                          <a:latin typeface="Calibri"/>
                          <a:ea typeface="Calibri"/>
                        </a:rPr>
                        <a:t>EBITDA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4dccb"/>
                      </a:solidFill>
                      <a:prstDash val="solid"/>
                    </a:lnL>
                    <a:lnR w="9360">
                      <a:solidFill>
                        <a:srgbClr val="e4dccb"/>
                      </a:solidFill>
                      <a:prstDash val="solid"/>
                    </a:lnR>
                    <a:lnT w="9360">
                      <a:solidFill>
                        <a:srgbClr val="e4dccb"/>
                      </a:solidFill>
                      <a:prstDash val="solid"/>
                    </a:lnT>
                    <a:lnB w="9360">
                      <a:solidFill>
                        <a:srgbClr val="e4dc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c94a1a"/>
                          </a:solidFill>
                          <a:latin typeface="Calibri"/>
                          <a:ea typeface="Calibri"/>
                        </a:rPr>
                        <a:t>(RM 41,136)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4dccb"/>
                      </a:solidFill>
                      <a:prstDash val="solid"/>
                    </a:lnL>
                    <a:lnR w="9360">
                      <a:solidFill>
                        <a:srgbClr val="e4dccb"/>
                      </a:solidFill>
                      <a:prstDash val="solid"/>
                    </a:lnR>
                    <a:lnT w="9360">
                      <a:solidFill>
                        <a:srgbClr val="e4dccb"/>
                      </a:solidFill>
                      <a:prstDash val="solid"/>
                    </a:lnT>
                    <a:lnB w="9360">
                      <a:solidFill>
                        <a:srgbClr val="e4dc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4a7c59"/>
                          </a:solidFill>
                          <a:latin typeface="Calibri"/>
                          <a:ea typeface="Calibri"/>
                        </a:rPr>
                        <a:t>RM 295,960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4dccb"/>
                      </a:solidFill>
                      <a:prstDash val="solid"/>
                    </a:lnL>
                    <a:lnR w="9360">
                      <a:solidFill>
                        <a:srgbClr val="e4dccb"/>
                      </a:solidFill>
                      <a:prstDash val="solid"/>
                    </a:lnR>
                    <a:lnT w="9360">
                      <a:solidFill>
                        <a:srgbClr val="e4dccb"/>
                      </a:solidFill>
                      <a:prstDash val="solid"/>
                    </a:lnT>
                    <a:lnB w="9360">
                      <a:solidFill>
                        <a:srgbClr val="e4dc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4a7c59"/>
                          </a:solidFill>
                          <a:latin typeface="Calibri"/>
                          <a:ea typeface="Calibri"/>
                        </a:rPr>
                        <a:t>RM 1,011,821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4dccb"/>
                      </a:solidFill>
                      <a:prstDash val="solid"/>
                    </a:lnL>
                    <a:lnR w="9360">
                      <a:solidFill>
                        <a:srgbClr val="e4dccb"/>
                      </a:solidFill>
                      <a:prstDash val="solid"/>
                    </a:lnR>
                    <a:lnT w="9360">
                      <a:solidFill>
                        <a:srgbClr val="e4dccb"/>
                      </a:solidFill>
                      <a:prstDash val="solid"/>
                    </a:lnT>
                    <a:lnB w="9360">
                      <a:solidFill>
                        <a:srgbClr val="e4dc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352d24"/>
                          </a:solidFill>
                          <a:latin typeface="Calibri"/>
                          <a:ea typeface="Calibri"/>
                        </a:rPr>
                        <a:t>EBITDA Margin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4dccb"/>
                      </a:solidFill>
                      <a:prstDash val="solid"/>
                    </a:lnL>
                    <a:lnR w="9360">
                      <a:solidFill>
                        <a:srgbClr val="e4dccb"/>
                      </a:solidFill>
                      <a:prstDash val="solid"/>
                    </a:lnR>
                    <a:lnT w="9360">
                      <a:solidFill>
                        <a:srgbClr val="e4dccb"/>
                      </a:solidFill>
                      <a:prstDash val="solid"/>
                    </a:lnT>
                    <a:lnB w="9360">
                      <a:solidFill>
                        <a:srgbClr val="e4dccb"/>
                      </a:solidFill>
                      <a:prstDash val="soli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c94a1a"/>
                          </a:solidFill>
                          <a:latin typeface="Calibri"/>
                          <a:ea typeface="Calibri"/>
                        </a:rPr>
                        <a:t>(27.5%)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4dccb"/>
                      </a:solidFill>
                      <a:prstDash val="solid"/>
                    </a:lnL>
                    <a:lnR w="9360">
                      <a:solidFill>
                        <a:srgbClr val="e4dccb"/>
                      </a:solidFill>
                      <a:prstDash val="solid"/>
                    </a:lnR>
                    <a:lnT w="9360">
                      <a:solidFill>
                        <a:srgbClr val="e4dccb"/>
                      </a:solidFill>
                      <a:prstDash val="solid"/>
                    </a:lnT>
                    <a:lnB w="9360">
                      <a:solidFill>
                        <a:srgbClr val="e4dccb"/>
                      </a:solidFill>
                      <a:prstDash val="soli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4a7c59"/>
                          </a:solidFill>
                          <a:latin typeface="Calibri"/>
                          <a:ea typeface="Calibri"/>
                        </a:rPr>
                        <a:t>41.5%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4dccb"/>
                      </a:solidFill>
                      <a:prstDash val="solid"/>
                    </a:lnL>
                    <a:lnR w="9360">
                      <a:solidFill>
                        <a:srgbClr val="e4dccb"/>
                      </a:solidFill>
                      <a:prstDash val="solid"/>
                    </a:lnR>
                    <a:lnT w="9360">
                      <a:solidFill>
                        <a:srgbClr val="e4dccb"/>
                      </a:solidFill>
                      <a:prstDash val="solid"/>
                    </a:lnT>
                    <a:lnB w="9360">
                      <a:solidFill>
                        <a:srgbClr val="e4dccb"/>
                      </a:solidFill>
                      <a:prstDash val="soli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4a7c59"/>
                          </a:solidFill>
                          <a:latin typeface="Calibri"/>
                          <a:ea typeface="Calibri"/>
                        </a:rPr>
                        <a:t>53.5%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4dccb"/>
                      </a:solidFill>
                      <a:prstDash val="solid"/>
                    </a:lnL>
                    <a:lnR w="9360">
                      <a:solidFill>
                        <a:srgbClr val="e4dccb"/>
                      </a:solidFill>
                      <a:prstDash val="solid"/>
                    </a:lnR>
                    <a:lnT w="9360">
                      <a:solidFill>
                        <a:srgbClr val="e4dccb"/>
                      </a:solidFill>
                      <a:prstDash val="solid"/>
                    </a:lnT>
                    <a:lnB w="9360">
                      <a:solidFill>
                        <a:srgbClr val="e4dccb"/>
                      </a:solidFill>
                      <a:prstDash val="solid"/>
                    </a:lnB>
                    <a:solidFill>
                      <a:srgbClr val="f5f0e8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352d24"/>
                          </a:solidFill>
                          <a:latin typeface="Calibri"/>
                          <a:ea typeface="Calibri"/>
                        </a:rPr>
                        <a:t>GMV Processed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4dccb"/>
                      </a:solidFill>
                      <a:prstDash val="solid"/>
                    </a:lnL>
                    <a:lnR w="9360">
                      <a:solidFill>
                        <a:srgbClr val="e4dccb"/>
                      </a:solidFill>
                      <a:prstDash val="solid"/>
                    </a:lnR>
                    <a:lnT w="9360">
                      <a:solidFill>
                        <a:srgbClr val="e4dccb"/>
                      </a:solidFill>
                      <a:prstDash val="solid"/>
                    </a:lnT>
                    <a:lnB w="9360">
                      <a:solidFill>
                        <a:srgbClr val="e4dc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352d24"/>
                          </a:solidFill>
                          <a:latin typeface="Calibri"/>
                          <a:ea typeface="Calibri"/>
                        </a:rPr>
                        <a:t>RM 836,000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4dccb"/>
                      </a:solidFill>
                      <a:prstDash val="solid"/>
                    </a:lnL>
                    <a:lnR w="9360">
                      <a:solidFill>
                        <a:srgbClr val="e4dccb"/>
                      </a:solidFill>
                      <a:prstDash val="solid"/>
                    </a:lnR>
                    <a:lnT w="9360">
                      <a:solidFill>
                        <a:srgbClr val="e4dccb"/>
                      </a:solidFill>
                      <a:prstDash val="solid"/>
                    </a:lnT>
                    <a:lnB w="9360">
                      <a:solidFill>
                        <a:srgbClr val="e4dc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352d24"/>
                          </a:solidFill>
                          <a:latin typeface="Calibri"/>
                          <a:ea typeface="Calibri"/>
                        </a:rPr>
                        <a:t>RM 3,481,940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4dccb"/>
                      </a:solidFill>
                      <a:prstDash val="solid"/>
                    </a:lnL>
                    <a:lnR w="9360">
                      <a:solidFill>
                        <a:srgbClr val="e4dccb"/>
                      </a:solidFill>
                      <a:prstDash val="solid"/>
                    </a:lnR>
                    <a:lnT w="9360">
                      <a:solidFill>
                        <a:srgbClr val="e4dccb"/>
                      </a:solidFill>
                      <a:prstDash val="solid"/>
                    </a:lnT>
                    <a:lnB w="9360">
                      <a:solidFill>
                        <a:srgbClr val="e4dc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352d24"/>
                          </a:solidFill>
                          <a:latin typeface="Calibri"/>
                          <a:ea typeface="Calibri"/>
                        </a:rPr>
                        <a:t>RM 8,306,040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4dccb"/>
                      </a:solidFill>
                      <a:prstDash val="solid"/>
                    </a:lnL>
                    <a:lnR w="9360">
                      <a:solidFill>
                        <a:srgbClr val="e4dccb"/>
                      </a:solidFill>
                      <a:prstDash val="solid"/>
                    </a:lnR>
                    <a:lnT w="9360">
                      <a:solidFill>
                        <a:srgbClr val="e4dccb"/>
                      </a:solidFill>
                      <a:prstDash val="solid"/>
                    </a:lnT>
                    <a:lnB w="9360">
                      <a:solidFill>
                        <a:srgbClr val="e4dc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352d24"/>
                          </a:solidFill>
                          <a:latin typeface="Calibri"/>
                          <a:ea typeface="Calibri"/>
                        </a:rPr>
                        <a:t>Total Bookings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4dccb"/>
                      </a:solidFill>
                      <a:prstDash val="solid"/>
                    </a:lnL>
                    <a:lnR w="9360">
                      <a:solidFill>
                        <a:srgbClr val="e4dccb"/>
                      </a:solidFill>
                      <a:prstDash val="solid"/>
                    </a:lnR>
                    <a:lnT w="9360">
                      <a:solidFill>
                        <a:srgbClr val="e4dccb"/>
                      </a:solidFill>
                      <a:prstDash val="solid"/>
                    </a:lnT>
                    <a:lnB w="9360">
                      <a:solidFill>
                        <a:srgbClr val="e4dccb"/>
                      </a:solidFill>
                      <a:prstDash val="soli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352d24"/>
                          </a:solidFill>
                          <a:latin typeface="Calibri"/>
                          <a:ea typeface="Calibri"/>
                        </a:rPr>
                        <a:t>2,200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4dccb"/>
                      </a:solidFill>
                      <a:prstDash val="solid"/>
                    </a:lnL>
                    <a:lnR w="9360">
                      <a:solidFill>
                        <a:srgbClr val="e4dccb"/>
                      </a:solidFill>
                      <a:prstDash val="solid"/>
                    </a:lnR>
                    <a:lnT w="9360">
                      <a:solidFill>
                        <a:srgbClr val="e4dccb"/>
                      </a:solidFill>
                      <a:prstDash val="solid"/>
                    </a:lnT>
                    <a:lnB w="9360">
                      <a:solidFill>
                        <a:srgbClr val="e4dccb"/>
                      </a:solidFill>
                      <a:prstDash val="soli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352d24"/>
                          </a:solidFill>
                          <a:latin typeface="Calibri"/>
                          <a:ea typeface="Calibri"/>
                        </a:rPr>
                        <a:t>9,163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4dccb"/>
                      </a:solidFill>
                      <a:prstDash val="solid"/>
                    </a:lnL>
                    <a:lnR w="9360">
                      <a:solidFill>
                        <a:srgbClr val="e4dccb"/>
                      </a:solidFill>
                      <a:prstDash val="solid"/>
                    </a:lnR>
                    <a:lnT w="9360">
                      <a:solidFill>
                        <a:srgbClr val="e4dccb"/>
                      </a:solidFill>
                      <a:prstDash val="solid"/>
                    </a:lnT>
                    <a:lnB w="9360">
                      <a:solidFill>
                        <a:srgbClr val="e4dccb"/>
                      </a:solidFill>
                      <a:prstDash val="soli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352d24"/>
                          </a:solidFill>
                          <a:latin typeface="Calibri"/>
                          <a:ea typeface="Calibri"/>
                        </a:rPr>
                        <a:t>21,858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4dccb"/>
                      </a:solidFill>
                      <a:prstDash val="solid"/>
                    </a:lnL>
                    <a:lnR w="9360">
                      <a:solidFill>
                        <a:srgbClr val="e4dccb"/>
                      </a:solidFill>
                      <a:prstDash val="solid"/>
                    </a:lnR>
                    <a:lnT w="9360">
                      <a:solidFill>
                        <a:srgbClr val="e4dccb"/>
                      </a:solidFill>
                      <a:prstDash val="solid"/>
                    </a:lnT>
                    <a:lnB w="9360">
                      <a:solidFill>
                        <a:srgbClr val="e4dccb"/>
                      </a:solidFill>
                      <a:prstDash val="solid"/>
                    </a:lnB>
                    <a:solidFill>
                      <a:srgbClr val="f5f0e8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352d24"/>
                          </a:solidFill>
                          <a:latin typeface="Calibri"/>
                          <a:ea typeface="Calibri"/>
                        </a:rPr>
                        <a:t>MUA Listings (year-end)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4dccb"/>
                      </a:solidFill>
                      <a:prstDash val="solid"/>
                    </a:lnL>
                    <a:lnR w="9360">
                      <a:solidFill>
                        <a:srgbClr val="e4dccb"/>
                      </a:solidFill>
                      <a:prstDash val="solid"/>
                    </a:lnR>
                    <a:lnT w="9360">
                      <a:solidFill>
                        <a:srgbClr val="e4dccb"/>
                      </a:solidFill>
                      <a:prstDash val="solid"/>
                    </a:lnT>
                    <a:lnB w="9360">
                      <a:solidFill>
                        <a:srgbClr val="e4dc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352d24"/>
                          </a:solidFill>
                          <a:latin typeface="Calibri"/>
                          <a:ea typeface="Calibri"/>
                        </a:rPr>
                        <a:t>116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4dccb"/>
                      </a:solidFill>
                      <a:prstDash val="solid"/>
                    </a:lnL>
                    <a:lnR w="9360">
                      <a:solidFill>
                        <a:srgbClr val="e4dccb"/>
                      </a:solidFill>
                      <a:prstDash val="solid"/>
                    </a:lnR>
                    <a:lnT w="9360">
                      <a:solidFill>
                        <a:srgbClr val="e4dccb"/>
                      </a:solidFill>
                      <a:prstDash val="solid"/>
                    </a:lnT>
                    <a:lnB w="9360">
                      <a:solidFill>
                        <a:srgbClr val="e4dc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352d24"/>
                          </a:solidFill>
                          <a:latin typeface="Calibri"/>
                          <a:ea typeface="Calibri"/>
                        </a:rPr>
                        <a:t>293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4dccb"/>
                      </a:solidFill>
                      <a:prstDash val="solid"/>
                    </a:lnL>
                    <a:lnR w="9360">
                      <a:solidFill>
                        <a:srgbClr val="e4dccb"/>
                      </a:solidFill>
                      <a:prstDash val="solid"/>
                    </a:lnR>
                    <a:lnT w="9360">
                      <a:solidFill>
                        <a:srgbClr val="e4dccb"/>
                      </a:solidFill>
                      <a:prstDash val="solid"/>
                    </a:lnT>
                    <a:lnB w="9360">
                      <a:solidFill>
                        <a:srgbClr val="e4dc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352d24"/>
                          </a:solidFill>
                          <a:latin typeface="Calibri"/>
                          <a:ea typeface="Calibri"/>
                        </a:rPr>
                        <a:t>526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4dccb"/>
                      </a:solidFill>
                      <a:prstDash val="solid"/>
                    </a:lnL>
                    <a:lnR w="9360">
                      <a:solidFill>
                        <a:srgbClr val="e4dccb"/>
                      </a:solidFill>
                      <a:prstDash val="solid"/>
                    </a:lnR>
                    <a:lnT w="9360">
                      <a:solidFill>
                        <a:srgbClr val="e4dccb"/>
                      </a:solidFill>
                      <a:prstDash val="solid"/>
                    </a:lnT>
                    <a:lnB w="9360">
                      <a:solidFill>
                        <a:srgbClr val="e4dc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0" name="Text 3"/>
          <p:cNvSpPr/>
          <p:nvPr/>
        </p:nvSpPr>
        <p:spPr>
          <a:xfrm>
            <a:off x="640080" y="5989320"/>
            <a:ext cx="10881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8a7e6e"/>
                </a:solidFill>
                <a:latin typeface="Calibri"/>
                <a:ea typeface="Calibri"/>
              </a:rPr>
              <a:t>Model assumptions: 12% MUA commission, 20% MUA-premium take-up at RM220/mo, featured placements from Month 7, brand partnerships from Month 13. Founder salaries RM7,000/mo combined through Year 1.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 0"/>
          <p:cNvSpPr/>
          <p:nvPr/>
        </p:nvSpPr>
        <p:spPr>
          <a:xfrm>
            <a:off x="457200" y="2926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199" strike="noStrike">
                <a:solidFill>
                  <a:srgbClr val="8a7e6e"/>
                </a:solidFill>
                <a:latin typeface="Calibri"/>
                <a:ea typeface="Calibri"/>
              </a:rPr>
              <a:t>FINANCIAL TRAJECTORY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1"/>
          <p:cNvSpPr/>
          <p:nvPr/>
        </p:nvSpPr>
        <p:spPr>
          <a:xfrm>
            <a:off x="8991360" y="2926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8ada0"/>
                </a:solidFill>
                <a:latin typeface="Calibri"/>
                <a:ea typeface="Calibri"/>
              </a:rPr>
              <a:t>LEISH  ·  10 / 14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 2"/>
          <p:cNvSpPr/>
          <p:nvPr/>
        </p:nvSpPr>
        <p:spPr>
          <a:xfrm>
            <a:off x="640080" y="777240"/>
            <a:ext cx="107895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a1410"/>
                </a:solidFill>
                <a:latin typeface="Cambria"/>
                <a:ea typeface="Cambria"/>
              </a:rPr>
              <a:t>Quarterly Revenue &amp; EBITDA — Model Output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74" name="Chart 0"/>
          <p:cNvGraphicFramePr/>
          <p:nvPr/>
        </p:nvGraphicFramePr>
        <p:xfrm>
          <a:off x="640080" y="1737360"/>
          <a:ext cx="10881000" cy="3977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75" name="Text 3"/>
          <p:cNvSpPr/>
          <p:nvPr/>
        </p:nvSpPr>
        <p:spPr>
          <a:xfrm>
            <a:off x="640080" y="5897880"/>
            <a:ext cx="10881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8a7e6e"/>
                </a:solidFill>
                <a:latin typeface="Calibri"/>
                <a:ea typeface="Calibri"/>
              </a:rPr>
              <a:t>Quarterly EBITDA crosses breakeven in Y1 Q4 and compounds through Year 3 as MUA supply and booking volume scale.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ext 0"/>
          <p:cNvSpPr/>
          <p:nvPr/>
        </p:nvSpPr>
        <p:spPr>
          <a:xfrm>
            <a:off x="457200" y="2926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199" strike="noStrike">
                <a:solidFill>
                  <a:srgbClr val="8a7e6e"/>
                </a:solidFill>
                <a:latin typeface="Calibri"/>
                <a:ea typeface="Calibri"/>
              </a:rPr>
              <a:t>TEAM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 1"/>
          <p:cNvSpPr/>
          <p:nvPr/>
        </p:nvSpPr>
        <p:spPr>
          <a:xfrm>
            <a:off x="8991360" y="2926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8ada0"/>
                </a:solidFill>
                <a:latin typeface="Calibri"/>
                <a:ea typeface="Calibri"/>
              </a:rPr>
              <a:t>LEISH  ·  11 / 14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 2"/>
          <p:cNvSpPr/>
          <p:nvPr/>
        </p:nvSpPr>
        <p:spPr>
          <a:xfrm>
            <a:off x="640080" y="777240"/>
            <a:ext cx="107895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a1410"/>
                </a:solidFill>
                <a:latin typeface="Cambria"/>
                <a:ea typeface="Cambria"/>
              </a:rPr>
              <a:t>The Founding Team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Shape 3"/>
          <p:cNvSpPr/>
          <p:nvPr/>
        </p:nvSpPr>
        <p:spPr>
          <a:xfrm>
            <a:off x="640080" y="1783080"/>
            <a:ext cx="2048040" cy="3565800"/>
          </a:xfrm>
          <a:prstGeom prst="roundRect">
            <a:avLst>
              <a:gd name="adj" fmla="val 3571"/>
            </a:avLst>
          </a:prstGeom>
          <a:solidFill>
            <a:srgbClr val="f5f0e8"/>
          </a:solidFill>
          <a:ln w="9525">
            <a:solidFill>
              <a:srgbClr val="e4dccb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Shape 4"/>
          <p:cNvSpPr/>
          <p:nvPr/>
        </p:nvSpPr>
        <p:spPr>
          <a:xfrm>
            <a:off x="1344240" y="2039040"/>
            <a:ext cx="639720" cy="639720"/>
          </a:xfrm>
          <a:prstGeom prst="ellipse">
            <a:avLst/>
          </a:prstGeom>
          <a:solidFill>
            <a:srgbClr val="c94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1" name="Image 0" descr="preencoded.png"/>
          <p:cNvPicPr/>
          <p:nvPr/>
        </p:nvPicPr>
        <p:blipFill>
          <a:blip r:embed="rId1"/>
          <a:stretch/>
        </p:blipFill>
        <p:spPr>
          <a:xfrm>
            <a:off x="1427400" y="2122200"/>
            <a:ext cx="473400" cy="473400"/>
          </a:xfrm>
          <a:prstGeom prst="rect">
            <a:avLst/>
          </a:prstGeom>
          <a:ln w="0">
            <a:noFill/>
          </a:ln>
        </p:spPr>
      </p:pic>
      <p:sp>
        <p:nvSpPr>
          <p:cNvPr id="182" name="Text 5"/>
          <p:cNvSpPr/>
          <p:nvPr/>
        </p:nvSpPr>
        <p:spPr>
          <a:xfrm>
            <a:off x="777240" y="2880360"/>
            <a:ext cx="1773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a1410"/>
                </a:solidFill>
                <a:latin typeface="Cambria"/>
                <a:ea typeface="Cambria"/>
              </a:rPr>
              <a:t>Shamel Ali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 6"/>
          <p:cNvSpPr/>
          <p:nvPr/>
        </p:nvSpPr>
        <p:spPr>
          <a:xfrm>
            <a:off x="777240" y="3410640"/>
            <a:ext cx="1773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c94a1a"/>
                </a:solidFill>
                <a:latin typeface="Calibri"/>
                <a:ea typeface="Calibri"/>
              </a:rPr>
              <a:t>Founder, CEO &amp; Lead Developer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 7"/>
          <p:cNvSpPr/>
          <p:nvPr/>
        </p:nvSpPr>
        <p:spPr>
          <a:xfrm>
            <a:off x="777240" y="3931920"/>
            <a:ext cx="1773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b8860b"/>
                </a:solidFill>
                <a:latin typeface="Cambria"/>
                <a:ea typeface="Cambria"/>
              </a:rPr>
              <a:t>52%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 8"/>
          <p:cNvSpPr/>
          <p:nvPr/>
        </p:nvSpPr>
        <p:spPr>
          <a:xfrm>
            <a:off x="804600" y="4480560"/>
            <a:ext cx="17186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870" spc="-1" strike="noStrike">
                <a:solidFill>
                  <a:srgbClr val="4a4238"/>
                </a:solidFill>
                <a:latin typeface="Calibri"/>
                <a:ea typeface="Calibri"/>
              </a:rPr>
              <a:t>Sole developer — platform architecture, product, payments, DevOps.</a:t>
            </a:r>
            <a:endParaRPr b="0" lang="en-US" sz="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Shape 9"/>
          <p:cNvSpPr/>
          <p:nvPr/>
        </p:nvSpPr>
        <p:spPr>
          <a:xfrm>
            <a:off x="2834640" y="1783080"/>
            <a:ext cx="2048040" cy="3565800"/>
          </a:xfrm>
          <a:prstGeom prst="roundRect">
            <a:avLst>
              <a:gd name="adj" fmla="val 3571"/>
            </a:avLst>
          </a:prstGeom>
          <a:solidFill>
            <a:srgbClr val="f5f0e8"/>
          </a:solidFill>
          <a:ln w="9525">
            <a:solidFill>
              <a:srgbClr val="e4dccb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Shape 10"/>
          <p:cNvSpPr/>
          <p:nvPr/>
        </p:nvSpPr>
        <p:spPr>
          <a:xfrm>
            <a:off x="3538800" y="2039040"/>
            <a:ext cx="639720" cy="639720"/>
          </a:xfrm>
          <a:prstGeom prst="ellipse">
            <a:avLst/>
          </a:prstGeom>
          <a:solidFill>
            <a:srgbClr val="1a141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8" name="Image 1" descr="preencoded.png"/>
          <p:cNvPicPr/>
          <p:nvPr/>
        </p:nvPicPr>
        <p:blipFill>
          <a:blip r:embed="rId2"/>
          <a:stretch/>
        </p:blipFill>
        <p:spPr>
          <a:xfrm>
            <a:off x="3621960" y="2122200"/>
            <a:ext cx="473400" cy="473400"/>
          </a:xfrm>
          <a:prstGeom prst="rect">
            <a:avLst/>
          </a:prstGeom>
          <a:ln w="0">
            <a:noFill/>
          </a:ln>
        </p:spPr>
      </p:pic>
      <p:sp>
        <p:nvSpPr>
          <p:cNvPr id="189" name="Text 11"/>
          <p:cNvSpPr/>
          <p:nvPr/>
        </p:nvSpPr>
        <p:spPr>
          <a:xfrm>
            <a:off x="2971800" y="2880360"/>
            <a:ext cx="1773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a1410"/>
                </a:solidFill>
                <a:latin typeface="Cambria"/>
                <a:ea typeface="Cambria"/>
              </a:rPr>
              <a:t>Leiynda Rahman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 12"/>
          <p:cNvSpPr/>
          <p:nvPr/>
        </p:nvSpPr>
        <p:spPr>
          <a:xfrm>
            <a:off x="2971800" y="3410640"/>
            <a:ext cx="1773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c94a1a"/>
                </a:solidFill>
                <a:latin typeface="Calibri"/>
                <a:ea typeface="Calibri"/>
              </a:rPr>
              <a:t>Director, MUA Supply Lead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 13"/>
          <p:cNvSpPr/>
          <p:nvPr/>
        </p:nvSpPr>
        <p:spPr>
          <a:xfrm>
            <a:off x="2971800" y="3931920"/>
            <a:ext cx="1773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b8860b"/>
                </a:solidFill>
                <a:latin typeface="Cambria"/>
                <a:ea typeface="Cambria"/>
              </a:rPr>
              <a:t>10%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 14"/>
          <p:cNvSpPr/>
          <p:nvPr/>
        </p:nvSpPr>
        <p:spPr>
          <a:xfrm>
            <a:off x="2999160" y="4480560"/>
            <a:ext cx="17186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870" spc="-1" strike="noStrike">
                <a:solidFill>
                  <a:srgbClr val="4a4238"/>
                </a:solidFill>
                <a:latin typeface="Calibri"/>
                <a:ea typeface="Calibri"/>
              </a:rPr>
              <a:t>Professional MUA — recruitment, onboarding, quality assurance.</a:t>
            </a:r>
            <a:endParaRPr b="0" lang="en-US" sz="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Shape 15"/>
          <p:cNvSpPr/>
          <p:nvPr/>
        </p:nvSpPr>
        <p:spPr>
          <a:xfrm>
            <a:off x="5029200" y="1783080"/>
            <a:ext cx="2048040" cy="3565800"/>
          </a:xfrm>
          <a:prstGeom prst="roundRect">
            <a:avLst>
              <a:gd name="adj" fmla="val 3571"/>
            </a:avLst>
          </a:prstGeom>
          <a:solidFill>
            <a:srgbClr val="f5f0e8"/>
          </a:solidFill>
          <a:ln w="9525">
            <a:solidFill>
              <a:srgbClr val="e4dccb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16"/>
          <p:cNvSpPr/>
          <p:nvPr/>
        </p:nvSpPr>
        <p:spPr>
          <a:xfrm>
            <a:off x="5733360" y="2039040"/>
            <a:ext cx="639720" cy="639720"/>
          </a:xfrm>
          <a:prstGeom prst="ellipse">
            <a:avLst/>
          </a:prstGeom>
          <a:solidFill>
            <a:srgbClr val="1a141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95" name="Image 2" descr="preencoded.png"/>
          <p:cNvPicPr/>
          <p:nvPr/>
        </p:nvPicPr>
        <p:blipFill>
          <a:blip r:embed="rId3"/>
          <a:stretch/>
        </p:blipFill>
        <p:spPr>
          <a:xfrm>
            <a:off x="5816520" y="2122200"/>
            <a:ext cx="473400" cy="473400"/>
          </a:xfrm>
          <a:prstGeom prst="rect">
            <a:avLst/>
          </a:prstGeom>
          <a:ln w="0">
            <a:noFill/>
          </a:ln>
        </p:spPr>
      </p:pic>
      <p:sp>
        <p:nvSpPr>
          <p:cNvPr id="196" name="Text 17"/>
          <p:cNvSpPr/>
          <p:nvPr/>
        </p:nvSpPr>
        <p:spPr>
          <a:xfrm>
            <a:off x="5166360" y="2880360"/>
            <a:ext cx="1773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a1410"/>
                </a:solidFill>
                <a:latin typeface="Cambria"/>
                <a:ea typeface="Cambria"/>
              </a:rPr>
              <a:t>Amar Wasilah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18"/>
          <p:cNvSpPr/>
          <p:nvPr/>
        </p:nvSpPr>
        <p:spPr>
          <a:xfrm>
            <a:off x="5166360" y="3410640"/>
            <a:ext cx="1773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c94a1a"/>
                </a:solidFill>
                <a:latin typeface="Calibri"/>
                <a:ea typeface="Calibri"/>
              </a:rPr>
              <a:t>CMO &amp; Director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 19"/>
          <p:cNvSpPr/>
          <p:nvPr/>
        </p:nvSpPr>
        <p:spPr>
          <a:xfrm>
            <a:off x="5166360" y="3931920"/>
            <a:ext cx="1773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b8860b"/>
                </a:solidFill>
                <a:latin typeface="Cambria"/>
                <a:ea typeface="Cambria"/>
              </a:rPr>
              <a:t>8%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 20"/>
          <p:cNvSpPr/>
          <p:nvPr/>
        </p:nvSpPr>
        <p:spPr>
          <a:xfrm>
            <a:off x="5193720" y="4480560"/>
            <a:ext cx="17186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870" spc="-1" strike="noStrike">
                <a:solidFill>
                  <a:srgbClr val="4a4238"/>
                </a:solidFill>
                <a:latin typeface="Calibri"/>
                <a:ea typeface="Calibri"/>
              </a:rPr>
              <a:t>Brand, content strategy, social &amp; influencer growth execution.</a:t>
            </a:r>
            <a:endParaRPr b="0" lang="en-US" sz="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Shape 21"/>
          <p:cNvSpPr/>
          <p:nvPr/>
        </p:nvSpPr>
        <p:spPr>
          <a:xfrm>
            <a:off x="7223760" y="1783080"/>
            <a:ext cx="2048040" cy="3565800"/>
          </a:xfrm>
          <a:prstGeom prst="roundRect">
            <a:avLst>
              <a:gd name="adj" fmla="val 3571"/>
            </a:avLst>
          </a:prstGeom>
          <a:solidFill>
            <a:srgbClr val="f5f0e8"/>
          </a:solidFill>
          <a:ln w="9525">
            <a:solidFill>
              <a:srgbClr val="e4dccb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Shape 22"/>
          <p:cNvSpPr/>
          <p:nvPr/>
        </p:nvSpPr>
        <p:spPr>
          <a:xfrm>
            <a:off x="7927920" y="2039040"/>
            <a:ext cx="639720" cy="639720"/>
          </a:xfrm>
          <a:prstGeom prst="ellipse">
            <a:avLst/>
          </a:prstGeom>
          <a:solidFill>
            <a:srgbClr val="b886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2" name="Image 3" descr="preencoded.png"/>
          <p:cNvPicPr/>
          <p:nvPr/>
        </p:nvPicPr>
        <p:blipFill>
          <a:blip r:embed="rId4"/>
          <a:stretch/>
        </p:blipFill>
        <p:spPr>
          <a:xfrm>
            <a:off x="8011080" y="2122200"/>
            <a:ext cx="473400" cy="473400"/>
          </a:xfrm>
          <a:prstGeom prst="rect">
            <a:avLst/>
          </a:prstGeom>
          <a:ln w="0">
            <a:noFill/>
          </a:ln>
        </p:spPr>
      </p:pic>
      <p:sp>
        <p:nvSpPr>
          <p:cNvPr id="203" name="Text 23"/>
          <p:cNvSpPr/>
          <p:nvPr/>
        </p:nvSpPr>
        <p:spPr>
          <a:xfrm>
            <a:off x="7360920" y="2880360"/>
            <a:ext cx="1773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a1410"/>
                </a:solidFill>
                <a:latin typeface="Cambria"/>
                <a:ea typeface="Cambria"/>
              </a:rPr>
              <a:t>Datuk Khairil Adri Adnan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 24"/>
          <p:cNvSpPr/>
          <p:nvPr/>
        </p:nvSpPr>
        <p:spPr>
          <a:xfrm>
            <a:off x="7360920" y="3410640"/>
            <a:ext cx="1773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c94a1a"/>
                </a:solidFill>
                <a:latin typeface="Calibri"/>
                <a:ea typeface="Calibri"/>
              </a:rPr>
              <a:t>Chairman &amp; Investor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 25"/>
          <p:cNvSpPr/>
          <p:nvPr/>
        </p:nvSpPr>
        <p:spPr>
          <a:xfrm>
            <a:off x="7360920" y="3931920"/>
            <a:ext cx="1773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b8860b"/>
                </a:solidFill>
                <a:latin typeface="Cambria"/>
                <a:ea typeface="Cambria"/>
              </a:rPr>
              <a:t>10%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Text 26"/>
          <p:cNvSpPr/>
          <p:nvPr/>
        </p:nvSpPr>
        <p:spPr>
          <a:xfrm>
            <a:off x="7388280" y="4480560"/>
            <a:ext cx="17186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870" spc="-1" strike="noStrike">
                <a:solidFill>
                  <a:srgbClr val="4a4238"/>
                </a:solidFill>
                <a:latin typeface="Calibri"/>
                <a:ea typeface="Calibri"/>
              </a:rPr>
              <a:t>Capital, governance, network access and investor credibility.</a:t>
            </a:r>
            <a:endParaRPr b="0" lang="en-US" sz="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Shape 27"/>
          <p:cNvSpPr/>
          <p:nvPr/>
        </p:nvSpPr>
        <p:spPr>
          <a:xfrm>
            <a:off x="9418320" y="1783080"/>
            <a:ext cx="2048040" cy="3565800"/>
          </a:xfrm>
          <a:prstGeom prst="roundRect">
            <a:avLst>
              <a:gd name="adj" fmla="val 3571"/>
            </a:avLst>
          </a:prstGeom>
          <a:solidFill>
            <a:srgbClr val="f5f0e8"/>
          </a:solidFill>
          <a:ln w="9525">
            <a:solidFill>
              <a:srgbClr val="e4dccb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Shape 28"/>
          <p:cNvSpPr/>
          <p:nvPr/>
        </p:nvSpPr>
        <p:spPr>
          <a:xfrm>
            <a:off x="10122480" y="2039040"/>
            <a:ext cx="639720" cy="639720"/>
          </a:xfrm>
          <a:prstGeom prst="ellipse">
            <a:avLst/>
          </a:prstGeom>
          <a:solidFill>
            <a:srgbClr val="1a141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9" name="Image 4" descr="preencoded.png"/>
          <p:cNvPicPr/>
          <p:nvPr/>
        </p:nvPicPr>
        <p:blipFill>
          <a:blip r:embed="rId5"/>
          <a:stretch/>
        </p:blipFill>
        <p:spPr>
          <a:xfrm>
            <a:off x="10205640" y="2122200"/>
            <a:ext cx="473400" cy="473400"/>
          </a:xfrm>
          <a:prstGeom prst="rect">
            <a:avLst/>
          </a:prstGeom>
          <a:ln w="0">
            <a:noFill/>
          </a:ln>
        </p:spPr>
      </p:pic>
      <p:sp>
        <p:nvSpPr>
          <p:cNvPr id="210" name="Text 29"/>
          <p:cNvSpPr/>
          <p:nvPr/>
        </p:nvSpPr>
        <p:spPr>
          <a:xfrm>
            <a:off x="9555480" y="2880360"/>
            <a:ext cx="1773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a1410"/>
                </a:solidFill>
                <a:latin typeface="Cambria"/>
                <a:ea typeface="Cambria"/>
              </a:rPr>
              <a:t>Abhinath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 30"/>
          <p:cNvSpPr/>
          <p:nvPr/>
        </p:nvSpPr>
        <p:spPr>
          <a:xfrm>
            <a:off x="9555480" y="3410640"/>
            <a:ext cx="1773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c94a1a"/>
                </a:solidFill>
                <a:latin typeface="Calibri"/>
                <a:ea typeface="Calibri"/>
              </a:rPr>
              <a:t>System Administrator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 31"/>
          <p:cNvSpPr/>
          <p:nvPr/>
        </p:nvSpPr>
        <p:spPr>
          <a:xfrm>
            <a:off x="9555480" y="3931920"/>
            <a:ext cx="1773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b8860b"/>
                </a:solidFill>
                <a:latin typeface="Cambria"/>
                <a:ea typeface="Cambria"/>
              </a:rPr>
              <a:t>5%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32"/>
          <p:cNvSpPr/>
          <p:nvPr/>
        </p:nvSpPr>
        <p:spPr>
          <a:xfrm>
            <a:off x="9582840" y="4480560"/>
            <a:ext cx="17186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870" spc="-1" strike="noStrike">
                <a:solidFill>
                  <a:srgbClr val="4a4238"/>
                </a:solidFill>
                <a:latin typeface="Calibri"/>
                <a:ea typeface="Calibri"/>
              </a:rPr>
              <a:t>Infrastructure, DevOps and platform reliability.</a:t>
            </a:r>
            <a:endParaRPr b="0" lang="en-US" sz="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 33"/>
          <p:cNvSpPr/>
          <p:nvPr/>
        </p:nvSpPr>
        <p:spPr>
          <a:xfrm>
            <a:off x="640080" y="5532120"/>
            <a:ext cx="10881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8a7e6e"/>
                </a:solidFill>
                <a:latin typeface="Calibri"/>
                <a:ea typeface="Calibri"/>
              </a:rPr>
              <a:t>Remaining 15% reserved as an unissued employee option pool for future key hires and advisors.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Text 0"/>
          <p:cNvSpPr/>
          <p:nvPr/>
        </p:nvSpPr>
        <p:spPr>
          <a:xfrm>
            <a:off x="457200" y="2926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199" strike="noStrike">
                <a:solidFill>
                  <a:srgbClr val="b8860b"/>
                </a:solidFill>
                <a:latin typeface="Calibri"/>
                <a:ea typeface="Calibri"/>
              </a:rPr>
              <a:t>THE ASK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Text 1"/>
          <p:cNvSpPr/>
          <p:nvPr/>
        </p:nvSpPr>
        <p:spPr>
          <a:xfrm>
            <a:off x="8991360" y="2926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6154"/>
                </a:solidFill>
                <a:latin typeface="Calibri"/>
                <a:ea typeface="Calibri"/>
              </a:rPr>
              <a:t>LEISH  ·  12 / 14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Text 2"/>
          <p:cNvSpPr/>
          <p:nvPr/>
        </p:nvSpPr>
        <p:spPr>
          <a:xfrm>
            <a:off x="640080" y="777240"/>
            <a:ext cx="107895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bf8f3"/>
                </a:solidFill>
                <a:latin typeface="Cambria"/>
                <a:ea typeface="Cambria"/>
              </a:rPr>
              <a:t>Raising RM 250,000 for 15% Equity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Text 3"/>
          <p:cNvSpPr/>
          <p:nvPr/>
        </p:nvSpPr>
        <p:spPr>
          <a:xfrm>
            <a:off x="640080" y="1783080"/>
            <a:ext cx="33829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b8860b"/>
                </a:solidFill>
                <a:latin typeface="Cambria"/>
                <a:ea typeface="Cambria"/>
              </a:rPr>
              <a:t>RM 250K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Text 4"/>
          <p:cNvSpPr/>
          <p:nvPr/>
        </p:nvSpPr>
        <p:spPr>
          <a:xfrm>
            <a:off x="640080" y="2514600"/>
            <a:ext cx="3382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148" strike="noStrike">
                <a:solidFill>
                  <a:srgbClr val="b8ada0"/>
                </a:solidFill>
                <a:latin typeface="Calibri"/>
                <a:ea typeface="Calibri"/>
              </a:rPr>
              <a:t>TARGET RAISE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Text 5"/>
          <p:cNvSpPr/>
          <p:nvPr/>
        </p:nvSpPr>
        <p:spPr>
          <a:xfrm>
            <a:off x="4251960" y="1783080"/>
            <a:ext cx="33829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b8860b"/>
                </a:solidFill>
                <a:latin typeface="Cambria"/>
                <a:ea typeface="Cambria"/>
              </a:rPr>
              <a:t>RM 1.42M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Text 6"/>
          <p:cNvSpPr/>
          <p:nvPr/>
        </p:nvSpPr>
        <p:spPr>
          <a:xfrm>
            <a:off x="4251960" y="2514600"/>
            <a:ext cx="3382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148" strike="noStrike">
                <a:solidFill>
                  <a:srgbClr val="b8ada0"/>
                </a:solidFill>
                <a:latin typeface="Calibri"/>
                <a:ea typeface="Calibri"/>
              </a:rPr>
              <a:t>PRE-MONEY VALUATION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Text 7"/>
          <p:cNvSpPr/>
          <p:nvPr/>
        </p:nvSpPr>
        <p:spPr>
          <a:xfrm>
            <a:off x="7863840" y="1783080"/>
            <a:ext cx="33829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b8860b"/>
                </a:solidFill>
                <a:latin typeface="Cambria"/>
                <a:ea typeface="Cambria"/>
              </a:rPr>
              <a:t>15%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Text 8"/>
          <p:cNvSpPr/>
          <p:nvPr/>
        </p:nvSpPr>
        <p:spPr>
          <a:xfrm>
            <a:off x="7863840" y="2514600"/>
            <a:ext cx="3382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148" strike="noStrike">
                <a:solidFill>
                  <a:srgbClr val="b8ada0"/>
                </a:solidFill>
                <a:latin typeface="Calibri"/>
                <a:ea typeface="Calibri"/>
              </a:rPr>
              <a:t>EQUITY OFFERED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Shape 9"/>
          <p:cNvSpPr/>
          <p:nvPr/>
        </p:nvSpPr>
        <p:spPr>
          <a:xfrm>
            <a:off x="640080" y="3063240"/>
            <a:ext cx="10881360" cy="360"/>
          </a:xfrm>
          <a:prstGeom prst="line">
            <a:avLst/>
          </a:prstGeom>
          <a:ln w="12700">
            <a:solidFill>
              <a:srgbClr val="3a3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Text 10"/>
          <p:cNvSpPr/>
          <p:nvPr/>
        </p:nvSpPr>
        <p:spPr>
          <a:xfrm>
            <a:off x="640080" y="329184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bf8f3"/>
                </a:solidFill>
                <a:latin typeface="Cambria"/>
                <a:ea typeface="Cambria"/>
              </a:rPr>
              <a:t>Use of Funds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226" name="Chart 0"/>
          <p:cNvGraphicFramePr/>
          <p:nvPr/>
        </p:nvGraphicFramePr>
        <p:xfrm>
          <a:off x="502920" y="3566160"/>
          <a:ext cx="5120280" cy="3017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27" name="Text 11"/>
          <p:cNvSpPr/>
          <p:nvPr/>
        </p:nvSpPr>
        <p:spPr>
          <a:xfrm>
            <a:off x="6172200" y="3291840"/>
            <a:ext cx="5394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bf8f3"/>
                </a:solidFill>
                <a:latin typeface="Cambria"/>
                <a:ea typeface="Cambria"/>
              </a:rPr>
              <a:t>Milestones This Unlocks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Text 12"/>
          <p:cNvSpPr/>
          <p:nvPr/>
        </p:nvSpPr>
        <p:spPr>
          <a:xfrm>
            <a:off x="6172200" y="3749040"/>
            <a:ext cx="539460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d8cfc0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d8cfc0"/>
                </a:solidFill>
                <a:latin typeface="Calibri"/>
                <a:ea typeface="Calibri"/>
              </a:rPr>
              <a:t>Sdn Bhd conversion &amp; public launch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d8cfc0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d8cfc0"/>
                </a:solidFill>
                <a:latin typeface="Calibri"/>
                <a:ea typeface="Calibri"/>
              </a:rPr>
              <a:t>150 MUA listings, 100 bookings by Day 90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d8cfc0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d8cfc0"/>
                </a:solidFill>
                <a:latin typeface="Calibri"/>
                <a:ea typeface="Calibri"/>
              </a:rPr>
              <a:t>Full off-platform contact enforcement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d8cfc0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d8cfc0"/>
                </a:solidFill>
                <a:latin typeface="Calibri"/>
                <a:ea typeface="Calibri"/>
              </a:rPr>
              <a:t>Traction data to support Series A conversations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ext 0"/>
          <p:cNvSpPr/>
          <p:nvPr/>
        </p:nvSpPr>
        <p:spPr>
          <a:xfrm>
            <a:off x="457200" y="2926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199" strike="noStrike">
                <a:solidFill>
                  <a:srgbClr val="8a7e6e"/>
                </a:solidFill>
                <a:latin typeface="Calibri"/>
                <a:ea typeface="Calibri"/>
              </a:rPr>
              <a:t>WHY NOW, WHY LEISH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 1"/>
          <p:cNvSpPr/>
          <p:nvPr/>
        </p:nvSpPr>
        <p:spPr>
          <a:xfrm>
            <a:off x="8991360" y="2926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8ada0"/>
                </a:solidFill>
                <a:latin typeface="Calibri"/>
                <a:ea typeface="Calibri"/>
              </a:rPr>
              <a:t>LEISH  ·  13 / 14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 2"/>
          <p:cNvSpPr/>
          <p:nvPr/>
        </p:nvSpPr>
        <p:spPr>
          <a:xfrm>
            <a:off x="640080" y="777240"/>
            <a:ext cx="107895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a1410"/>
                </a:solidFill>
                <a:latin typeface="Cambria"/>
                <a:ea typeface="Cambria"/>
              </a:rPr>
              <a:t>This Is the Moment to Own Beauty Discovery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Shape 3"/>
          <p:cNvSpPr/>
          <p:nvPr/>
        </p:nvSpPr>
        <p:spPr>
          <a:xfrm>
            <a:off x="640080" y="1828800"/>
            <a:ext cx="2605680" cy="2514240"/>
          </a:xfrm>
          <a:prstGeom prst="roundRect">
            <a:avLst>
              <a:gd name="adj" fmla="val 2909"/>
            </a:avLst>
          </a:prstGeom>
          <a:solidFill>
            <a:srgbClr val="f5f0e8"/>
          </a:solidFill>
          <a:ln w="9525">
            <a:solidFill>
              <a:srgbClr val="e4dccb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Shape 4"/>
          <p:cNvSpPr/>
          <p:nvPr/>
        </p:nvSpPr>
        <p:spPr>
          <a:xfrm>
            <a:off x="841320" y="2057400"/>
            <a:ext cx="548280" cy="548280"/>
          </a:xfrm>
          <a:prstGeom prst="ellipse">
            <a:avLst/>
          </a:prstGeom>
          <a:solidFill>
            <a:srgbClr val="c94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34" name="Image 0" descr="preencoded.png"/>
          <p:cNvPicPr/>
          <p:nvPr/>
        </p:nvPicPr>
        <p:blipFill>
          <a:blip r:embed="rId1"/>
          <a:stretch/>
        </p:blipFill>
        <p:spPr>
          <a:xfrm>
            <a:off x="912600" y="2128680"/>
            <a:ext cx="405720" cy="405720"/>
          </a:xfrm>
          <a:prstGeom prst="rect">
            <a:avLst/>
          </a:prstGeom>
          <a:ln w="0">
            <a:noFill/>
          </a:ln>
        </p:spPr>
      </p:pic>
      <p:sp>
        <p:nvSpPr>
          <p:cNvPr id="235" name="Text 5"/>
          <p:cNvSpPr/>
          <p:nvPr/>
        </p:nvSpPr>
        <p:spPr>
          <a:xfrm>
            <a:off x="841320" y="2743200"/>
            <a:ext cx="2203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1410"/>
                </a:solidFill>
                <a:latin typeface="Cambria"/>
                <a:ea typeface="Cambria"/>
              </a:rPr>
              <a:t>TikTok-Native Strategy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 6"/>
          <p:cNvSpPr/>
          <p:nvPr/>
        </p:nvSpPr>
        <p:spPr>
          <a:xfrm>
            <a:off x="841320" y="3200400"/>
            <a:ext cx="22032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70" spc="-1" strike="noStrike">
                <a:solidFill>
                  <a:srgbClr val="4a4238"/>
                </a:solidFill>
                <a:latin typeface="Calibri"/>
                <a:ea typeface="Calibri"/>
              </a:rPr>
              <a:t>GRWM content is exploding — Leish is built to ride organic beauty discovery from day one.</a:t>
            </a:r>
            <a:endParaRPr b="0" lang="en-US" sz="10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Shape 7"/>
          <p:cNvSpPr/>
          <p:nvPr/>
        </p:nvSpPr>
        <p:spPr>
          <a:xfrm>
            <a:off x="3429000" y="1828800"/>
            <a:ext cx="2605680" cy="2514240"/>
          </a:xfrm>
          <a:prstGeom prst="roundRect">
            <a:avLst>
              <a:gd name="adj" fmla="val 2909"/>
            </a:avLst>
          </a:prstGeom>
          <a:solidFill>
            <a:srgbClr val="f5f0e8"/>
          </a:solidFill>
          <a:ln w="9525">
            <a:solidFill>
              <a:srgbClr val="e4dccb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Shape 8"/>
          <p:cNvSpPr/>
          <p:nvPr/>
        </p:nvSpPr>
        <p:spPr>
          <a:xfrm>
            <a:off x="3630240" y="2057400"/>
            <a:ext cx="548280" cy="548280"/>
          </a:xfrm>
          <a:prstGeom prst="ellipse">
            <a:avLst/>
          </a:prstGeom>
          <a:solidFill>
            <a:srgbClr val="b886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39" name="Image 1" descr="preencoded.png"/>
          <p:cNvPicPr/>
          <p:nvPr/>
        </p:nvPicPr>
        <p:blipFill>
          <a:blip r:embed="rId2"/>
          <a:stretch/>
        </p:blipFill>
        <p:spPr>
          <a:xfrm>
            <a:off x="3701520" y="2128680"/>
            <a:ext cx="405720" cy="405720"/>
          </a:xfrm>
          <a:prstGeom prst="rect">
            <a:avLst/>
          </a:prstGeom>
          <a:ln w="0">
            <a:noFill/>
          </a:ln>
        </p:spPr>
      </p:pic>
      <p:sp>
        <p:nvSpPr>
          <p:cNvPr id="240" name="Text 9"/>
          <p:cNvSpPr/>
          <p:nvPr/>
        </p:nvSpPr>
        <p:spPr>
          <a:xfrm>
            <a:off x="3630240" y="2743200"/>
            <a:ext cx="2203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1410"/>
                </a:solidFill>
                <a:latin typeface="Cambria"/>
                <a:ea typeface="Cambria"/>
              </a:rPr>
              <a:t>Blue Ocean Category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Text 10"/>
          <p:cNvSpPr/>
          <p:nvPr/>
        </p:nvSpPr>
        <p:spPr>
          <a:xfrm>
            <a:off x="3630240" y="3200400"/>
            <a:ext cx="22032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70" spc="-1" strike="noStrike">
                <a:solidFill>
                  <a:srgbClr val="4a4238"/>
                </a:solidFill>
                <a:latin typeface="Calibri"/>
                <a:ea typeface="Calibri"/>
              </a:rPr>
              <a:t>No dominant player owns client-first MUA discovery in Malaysia today.</a:t>
            </a:r>
            <a:endParaRPr b="0" lang="en-US" sz="10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Shape 11"/>
          <p:cNvSpPr/>
          <p:nvPr/>
        </p:nvSpPr>
        <p:spPr>
          <a:xfrm>
            <a:off x="6217920" y="1828800"/>
            <a:ext cx="2605680" cy="2514240"/>
          </a:xfrm>
          <a:prstGeom prst="roundRect">
            <a:avLst>
              <a:gd name="adj" fmla="val 2909"/>
            </a:avLst>
          </a:prstGeom>
          <a:solidFill>
            <a:srgbClr val="f5f0e8"/>
          </a:solidFill>
          <a:ln w="9525">
            <a:solidFill>
              <a:srgbClr val="e4dccb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Shape 12"/>
          <p:cNvSpPr/>
          <p:nvPr/>
        </p:nvSpPr>
        <p:spPr>
          <a:xfrm>
            <a:off x="6419160" y="2057400"/>
            <a:ext cx="548280" cy="548280"/>
          </a:xfrm>
          <a:prstGeom prst="ellipse">
            <a:avLst/>
          </a:prstGeom>
          <a:solidFill>
            <a:srgbClr val="c94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44" name="Image 2" descr="preencoded.png"/>
          <p:cNvPicPr/>
          <p:nvPr/>
        </p:nvPicPr>
        <p:blipFill>
          <a:blip r:embed="rId3"/>
          <a:stretch/>
        </p:blipFill>
        <p:spPr>
          <a:xfrm>
            <a:off x="6490440" y="2128680"/>
            <a:ext cx="405720" cy="405720"/>
          </a:xfrm>
          <a:prstGeom prst="rect">
            <a:avLst/>
          </a:prstGeom>
          <a:ln w="0">
            <a:noFill/>
          </a:ln>
        </p:spPr>
      </p:pic>
      <p:sp>
        <p:nvSpPr>
          <p:cNvPr id="245" name="Text 13"/>
          <p:cNvSpPr/>
          <p:nvPr/>
        </p:nvSpPr>
        <p:spPr>
          <a:xfrm>
            <a:off x="6419160" y="2743200"/>
            <a:ext cx="2203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1410"/>
                </a:solidFill>
                <a:latin typeface="Cambria"/>
                <a:ea typeface="Cambria"/>
              </a:rPr>
              <a:t>Growing Freelance Economy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Text 14"/>
          <p:cNvSpPr/>
          <p:nvPr/>
        </p:nvSpPr>
        <p:spPr>
          <a:xfrm>
            <a:off x="6419160" y="3200400"/>
            <a:ext cx="22032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70" spc="-1" strike="noStrike">
                <a:solidFill>
                  <a:srgbClr val="4a4238"/>
                </a:solidFill>
                <a:latin typeface="Calibri"/>
                <a:ea typeface="Calibri"/>
              </a:rPr>
              <a:t>Post-pandemic independent beauty professionals want direct client access, not salon gatekeeping.</a:t>
            </a:r>
            <a:endParaRPr b="0" lang="en-US" sz="10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Shape 15"/>
          <p:cNvSpPr/>
          <p:nvPr/>
        </p:nvSpPr>
        <p:spPr>
          <a:xfrm>
            <a:off x="9006840" y="1828800"/>
            <a:ext cx="2605680" cy="2514240"/>
          </a:xfrm>
          <a:prstGeom prst="roundRect">
            <a:avLst>
              <a:gd name="adj" fmla="val 2909"/>
            </a:avLst>
          </a:prstGeom>
          <a:solidFill>
            <a:srgbClr val="f5f0e8"/>
          </a:solidFill>
          <a:ln w="9525">
            <a:solidFill>
              <a:srgbClr val="e4dccb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Shape 16"/>
          <p:cNvSpPr/>
          <p:nvPr/>
        </p:nvSpPr>
        <p:spPr>
          <a:xfrm>
            <a:off x="9208080" y="2057400"/>
            <a:ext cx="548280" cy="548280"/>
          </a:xfrm>
          <a:prstGeom prst="ellipse">
            <a:avLst/>
          </a:prstGeom>
          <a:solidFill>
            <a:srgbClr val="b886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49" name="Image 3" descr="preencoded.png"/>
          <p:cNvPicPr/>
          <p:nvPr/>
        </p:nvPicPr>
        <p:blipFill>
          <a:blip r:embed="rId4"/>
          <a:stretch/>
        </p:blipFill>
        <p:spPr>
          <a:xfrm>
            <a:off x="9279360" y="2128680"/>
            <a:ext cx="405720" cy="405720"/>
          </a:xfrm>
          <a:prstGeom prst="rect">
            <a:avLst/>
          </a:prstGeom>
          <a:ln w="0">
            <a:noFill/>
          </a:ln>
        </p:spPr>
      </p:pic>
      <p:sp>
        <p:nvSpPr>
          <p:cNvPr id="250" name="Text 17"/>
          <p:cNvSpPr/>
          <p:nvPr/>
        </p:nvSpPr>
        <p:spPr>
          <a:xfrm>
            <a:off x="9208080" y="2743200"/>
            <a:ext cx="2203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1410"/>
                </a:solidFill>
                <a:latin typeface="Cambria"/>
                <a:ea typeface="Cambria"/>
              </a:rPr>
              <a:t>Structural Client Gap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 18"/>
          <p:cNvSpPr/>
          <p:nvPr/>
        </p:nvSpPr>
        <p:spPr>
          <a:xfrm>
            <a:off x="9208080" y="3200400"/>
            <a:ext cx="22032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70" spc="-1" strike="noStrike">
                <a:solidFill>
                  <a:srgbClr val="4a4238"/>
                </a:solidFill>
                <a:latin typeface="Calibri"/>
                <a:ea typeface="Calibri"/>
              </a:rPr>
              <a:t>Every major competitor builds for professionals — none for the person doing the booking.</a:t>
            </a:r>
            <a:endParaRPr b="0" lang="en-US" sz="10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Shape 19"/>
          <p:cNvSpPr/>
          <p:nvPr/>
        </p:nvSpPr>
        <p:spPr>
          <a:xfrm>
            <a:off x="640080" y="4663440"/>
            <a:ext cx="10881000" cy="1416960"/>
          </a:xfrm>
          <a:prstGeom prst="roundRect">
            <a:avLst>
              <a:gd name="adj" fmla="val 5161"/>
            </a:avLst>
          </a:prstGeom>
          <a:solidFill>
            <a:srgbClr val="1a1410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Text 20"/>
          <p:cNvSpPr/>
          <p:nvPr/>
        </p:nvSpPr>
        <p:spPr>
          <a:xfrm>
            <a:off x="914400" y="4892040"/>
            <a:ext cx="103323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b8860b"/>
                </a:solidFill>
                <a:latin typeface="Calibri"/>
                <a:ea typeface="Calibri"/>
              </a:rPr>
              <a:t>Entity note:  </a:t>
            </a:r>
            <a:r>
              <a:rPr b="0" lang="en-US" sz="1200" spc="-1" strike="noStrike">
                <a:solidFill>
                  <a:srgbClr val="d8cfc0"/>
                </a:solidFill>
                <a:latin typeface="Calibri"/>
                <a:ea typeface="Calibri"/>
              </a:rPr>
              <a:t>All materials use the “Leish” brand. The registered legal entity is Duta Integra Solutions (SSM TR0325441-K), a Sole Proprietorship. Conversion to Sdn Bhd is planned ahead of the seed close so shares can be legally issued.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Text 0"/>
          <p:cNvSpPr/>
          <p:nvPr/>
        </p:nvSpPr>
        <p:spPr>
          <a:xfrm>
            <a:off x="640080" y="1965960"/>
            <a:ext cx="91436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400" spc="-1" strike="noStrike">
                <a:solidFill>
                  <a:srgbClr val="fbf8f3"/>
                </a:solidFill>
                <a:latin typeface="Cambria"/>
                <a:ea typeface="Cambria"/>
              </a:rPr>
              <a:t>LEISH</a:t>
            </a:r>
            <a:endParaRPr b="0" lang="en-US" sz="6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" name="Text 1"/>
          <p:cNvSpPr/>
          <p:nvPr/>
        </p:nvSpPr>
        <p:spPr>
          <a:xfrm>
            <a:off x="658440" y="306324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900" spc="-1" strike="noStrike">
                <a:solidFill>
                  <a:srgbClr val="c94a1a"/>
                </a:solidFill>
                <a:latin typeface="Cambria"/>
                <a:ea typeface="Cambria"/>
              </a:rPr>
              <a:t>Let's build Malaysia's trusted beauty marketplace, together.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Shape 2"/>
          <p:cNvSpPr/>
          <p:nvPr/>
        </p:nvSpPr>
        <p:spPr>
          <a:xfrm>
            <a:off x="640080" y="3931920"/>
            <a:ext cx="3108960" cy="360"/>
          </a:xfrm>
          <a:prstGeom prst="line">
            <a:avLst/>
          </a:prstGeom>
          <a:ln w="12700">
            <a:solidFill>
              <a:srgbClr val="3a3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Text 3"/>
          <p:cNvSpPr/>
          <p:nvPr/>
        </p:nvSpPr>
        <p:spPr>
          <a:xfrm>
            <a:off x="640080" y="411480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leish.my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Text 4"/>
          <p:cNvSpPr/>
          <p:nvPr/>
        </p:nvSpPr>
        <p:spPr>
          <a:xfrm>
            <a:off x="640080" y="44805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d8cfc0"/>
                </a:solidFill>
                <a:latin typeface="Calibri"/>
                <a:ea typeface="Calibri"/>
              </a:rPr>
              <a:t>Shamel Ali  ·  Founder &amp; CEO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Text 5"/>
          <p:cNvSpPr/>
          <p:nvPr/>
        </p:nvSpPr>
        <p:spPr>
          <a:xfrm>
            <a:off x="640080" y="480060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8a7e6e"/>
                </a:solidFill>
                <a:latin typeface="Calibri"/>
                <a:ea typeface="Calibri"/>
              </a:rPr>
              <a:t>Duta Integra Solutions  ·  SSM TR0325441-K  ·  Cyberjaya, Selangor, Malaysia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" name="Text 6"/>
          <p:cNvSpPr/>
          <p:nvPr/>
        </p:nvSpPr>
        <p:spPr>
          <a:xfrm>
            <a:off x="640080" y="626364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199" strike="noStrike">
                <a:solidFill>
                  <a:srgbClr val="5a5148"/>
                </a:solidFill>
                <a:latin typeface="Calibri"/>
                <a:ea typeface="Calibri"/>
              </a:rPr>
              <a:t>CONFIDENTIAL — PREPARED FOR PROSPECTIVE SEED INVESTORS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2026-07-01T01:39:33Z</dcterms:created>
  <dc:creator>Leish</dc:creator>
  <dc:description/>
  <dc:language>en-US</dc:language>
  <cp:lastModifiedBy/>
  <dcterms:modified xsi:type="dcterms:W3CDTF">2026-08-06T01:49:12Z</dcterms:modified>
  <cp:revision>2</cp:revision>
  <dc:subject>PptxGenJS Presentation</dc:subject>
  <dc:title>Leish — Investor Pitch Deck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14</vt:i4>
  </property>
  <property fmtid="{D5CDD505-2E9C-101B-9397-08002B2CF9AE}" pid="3" name="PresentationFormat">
    <vt:lpwstr>On-screen Show (16:9)</vt:lpwstr>
  </property>
  <property fmtid="{D5CDD505-2E9C-101B-9397-08002B2CF9AE}" pid="4" name="Slides">
    <vt:i4>14</vt:i4>
  </property>
</Properties>
</file>